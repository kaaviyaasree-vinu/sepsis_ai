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al Nova Bold" charset="1" panose="020B0804020202020204"/>
      <p:regular r:id="rId14"/>
    </p:embeddedFont>
    <p:embeddedFont>
      <p:font typeface="Arial Nova" charset="1" panose="020B0504020202020204"/>
      <p:regular r:id="rId15"/>
    </p:embeddedFont>
    <p:embeddedFont>
      <p:font typeface="Inter" charset="1" panose="020B050203000000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png" Type="http://schemas.openxmlformats.org/officeDocument/2006/relationships/image"/><Relationship Id="rId13" Target="../media/image27.png" Type="http://schemas.openxmlformats.org/officeDocument/2006/relationships/image"/><Relationship Id="rId14" Target="../media/image28.png" Type="http://schemas.openxmlformats.org/officeDocument/2006/relationships/image"/><Relationship Id="rId15" Target="../media/image29.png" Type="http://schemas.openxmlformats.org/officeDocument/2006/relationships/image"/><Relationship Id="rId16" Target="../media/image30.png" Type="http://schemas.openxmlformats.org/officeDocument/2006/relationships/image"/><Relationship Id="rId17" Target="../media/image31.png" Type="http://schemas.openxmlformats.org/officeDocument/2006/relationships/image"/><Relationship Id="rId18" Target="../media/image32.png" Type="http://schemas.openxmlformats.org/officeDocument/2006/relationships/image"/><Relationship Id="rId19" Target="../media/image33.png" Type="http://schemas.openxmlformats.org/officeDocument/2006/relationships/image"/><Relationship Id="rId2" Target="../media/image16.png" Type="http://schemas.openxmlformats.org/officeDocument/2006/relationships/image"/><Relationship Id="rId20" Target="../media/image34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png" Type="http://schemas.openxmlformats.org/officeDocument/2006/relationships/image"/><Relationship Id="rId12" Target="../media/image45.png" Type="http://schemas.openxmlformats.org/officeDocument/2006/relationships/image"/><Relationship Id="rId13" Target="../media/image46.png" Type="http://schemas.openxmlformats.org/officeDocument/2006/relationships/image"/><Relationship Id="rId14" Target="../media/image47.png" Type="http://schemas.openxmlformats.org/officeDocument/2006/relationships/image"/><Relationship Id="rId15" Target="../media/image48.png" Type="http://schemas.openxmlformats.org/officeDocument/2006/relationships/image"/><Relationship Id="rId16" Target="../media/image49.png" Type="http://schemas.openxmlformats.org/officeDocument/2006/relationships/image"/><Relationship Id="rId17" Target="../media/image50.png" Type="http://schemas.openxmlformats.org/officeDocument/2006/relationships/image"/><Relationship Id="rId18" Target="../media/image51.png" Type="http://schemas.openxmlformats.org/officeDocument/2006/relationships/image"/><Relationship Id="rId19" Target="../media/image52.png" Type="http://schemas.openxmlformats.org/officeDocument/2006/relationships/image"/><Relationship Id="rId2" Target="../media/image35.png" Type="http://schemas.openxmlformats.org/officeDocument/2006/relationships/image"/><Relationship Id="rId20" Target="../media/image53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png" Type="http://schemas.openxmlformats.org/officeDocument/2006/relationships/image"/><Relationship Id="rId12" Target="../media/image64.png" Type="http://schemas.openxmlformats.org/officeDocument/2006/relationships/image"/><Relationship Id="rId13" Target="../media/image65.png" Type="http://schemas.openxmlformats.org/officeDocument/2006/relationships/image"/><Relationship Id="rId14" Target="../media/image66.png" Type="http://schemas.openxmlformats.org/officeDocument/2006/relationships/image"/><Relationship Id="rId2" Target="../media/image54.pn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59.png" Type="http://schemas.openxmlformats.org/officeDocument/2006/relationships/image"/><Relationship Id="rId8" Target="../media/image60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11" Target="../media/image76.png" Type="http://schemas.openxmlformats.org/officeDocument/2006/relationships/image"/><Relationship Id="rId12" Target="../media/image77.png" Type="http://schemas.openxmlformats.org/officeDocument/2006/relationships/image"/><Relationship Id="rId13" Target="../media/image78.png" Type="http://schemas.openxmlformats.org/officeDocument/2006/relationships/image"/><Relationship Id="rId14" Target="../media/image79.png" Type="http://schemas.openxmlformats.org/officeDocument/2006/relationships/image"/><Relationship Id="rId15" Target="../media/image80.png" Type="http://schemas.openxmlformats.org/officeDocument/2006/relationships/image"/><Relationship Id="rId16" Target="../media/image81.png" Type="http://schemas.openxmlformats.org/officeDocument/2006/relationships/image"/><Relationship Id="rId17" Target="../media/image82.png" Type="http://schemas.openxmlformats.org/officeDocument/2006/relationships/image"/><Relationship Id="rId18" Target="../media/image83.png" Type="http://schemas.openxmlformats.org/officeDocument/2006/relationships/image"/><Relationship Id="rId19" Target="../media/image84.png" Type="http://schemas.openxmlformats.org/officeDocument/2006/relationships/image"/><Relationship Id="rId2" Target="../media/image67.png" Type="http://schemas.openxmlformats.org/officeDocument/2006/relationships/image"/><Relationship Id="rId3" Target="../media/image68.png" Type="http://schemas.openxmlformats.org/officeDocument/2006/relationships/image"/><Relationship Id="rId4" Target="../media/image69.png" Type="http://schemas.openxmlformats.org/officeDocument/2006/relationships/image"/><Relationship Id="rId5" Target="../media/image70.png" Type="http://schemas.openxmlformats.org/officeDocument/2006/relationships/image"/><Relationship Id="rId6" Target="../media/image71.png" Type="http://schemas.openxmlformats.org/officeDocument/2006/relationships/image"/><Relationship Id="rId7" Target="../media/image72.png" Type="http://schemas.openxmlformats.org/officeDocument/2006/relationships/image"/><Relationship Id="rId8" Target="../media/image73.pn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94.png" Type="http://schemas.openxmlformats.org/officeDocument/2006/relationships/image"/><Relationship Id="rId12" Target="../media/image95.png" Type="http://schemas.openxmlformats.org/officeDocument/2006/relationships/image"/><Relationship Id="rId13" Target="../media/image96.png" Type="http://schemas.openxmlformats.org/officeDocument/2006/relationships/image"/><Relationship Id="rId14" Target="../media/image97.png" Type="http://schemas.openxmlformats.org/officeDocument/2006/relationships/image"/><Relationship Id="rId15" Target="../media/image98.png" Type="http://schemas.openxmlformats.org/officeDocument/2006/relationships/image"/><Relationship Id="rId16" Target="../media/image99.png" Type="http://schemas.openxmlformats.org/officeDocument/2006/relationships/image"/><Relationship Id="rId17" Target="../media/image100.png" Type="http://schemas.openxmlformats.org/officeDocument/2006/relationships/image"/><Relationship Id="rId18" Target="../media/image101.png" Type="http://schemas.openxmlformats.org/officeDocument/2006/relationships/image"/><Relationship Id="rId19" Target="../media/image102.png" Type="http://schemas.openxmlformats.org/officeDocument/2006/relationships/image"/><Relationship Id="rId2" Target="../media/image85.png" Type="http://schemas.openxmlformats.org/officeDocument/2006/relationships/image"/><Relationship Id="rId20" Target="../media/image103.png" Type="http://schemas.openxmlformats.org/officeDocument/2006/relationships/image"/><Relationship Id="rId21" Target="../media/image104.png" Type="http://schemas.openxmlformats.org/officeDocument/2006/relationships/image"/><Relationship Id="rId22" Target="../media/image105.png" Type="http://schemas.openxmlformats.org/officeDocument/2006/relationships/image"/><Relationship Id="rId23" Target="../media/image106.png" Type="http://schemas.openxmlformats.org/officeDocument/2006/relationships/image"/><Relationship Id="rId24" Target="../media/image107.png" Type="http://schemas.openxmlformats.org/officeDocument/2006/relationships/image"/><Relationship Id="rId25" Target="../media/image108.png" Type="http://schemas.openxmlformats.org/officeDocument/2006/relationships/image"/><Relationship Id="rId26" Target="../media/image109.png" Type="http://schemas.openxmlformats.org/officeDocument/2006/relationships/image"/><Relationship Id="rId27" Target="../media/image110.png" Type="http://schemas.openxmlformats.org/officeDocument/2006/relationships/image"/><Relationship Id="rId28" Target="../media/image111.png" Type="http://schemas.openxmlformats.org/officeDocument/2006/relationships/image"/><Relationship Id="rId29" Target="../media/image112.png" Type="http://schemas.openxmlformats.org/officeDocument/2006/relationships/image"/><Relationship Id="rId3" Target="../media/image86.png" Type="http://schemas.openxmlformats.org/officeDocument/2006/relationships/image"/><Relationship Id="rId4" Target="../media/image87.png" Type="http://schemas.openxmlformats.org/officeDocument/2006/relationships/image"/><Relationship Id="rId5" Target="../media/image88.png" Type="http://schemas.openxmlformats.org/officeDocument/2006/relationships/image"/><Relationship Id="rId6" Target="../media/image89.png" Type="http://schemas.openxmlformats.org/officeDocument/2006/relationships/image"/><Relationship Id="rId7" Target="../media/image90.png" Type="http://schemas.openxmlformats.org/officeDocument/2006/relationships/image"/><Relationship Id="rId8" Target="../media/image91.png" Type="http://schemas.openxmlformats.org/officeDocument/2006/relationships/image"/><Relationship Id="rId9" Target="../media/image9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1.png" Type="http://schemas.openxmlformats.org/officeDocument/2006/relationships/image"/><Relationship Id="rId11" Target="../media/image122.png" Type="http://schemas.openxmlformats.org/officeDocument/2006/relationships/image"/><Relationship Id="rId12" Target="../media/image123.png" Type="http://schemas.openxmlformats.org/officeDocument/2006/relationships/image"/><Relationship Id="rId13" Target="../media/image124.png" Type="http://schemas.openxmlformats.org/officeDocument/2006/relationships/image"/><Relationship Id="rId14" Target="../media/image125.png" Type="http://schemas.openxmlformats.org/officeDocument/2006/relationships/image"/><Relationship Id="rId15" Target="../media/image126.png" Type="http://schemas.openxmlformats.org/officeDocument/2006/relationships/image"/><Relationship Id="rId16" Target="../media/image127.png" Type="http://schemas.openxmlformats.org/officeDocument/2006/relationships/image"/><Relationship Id="rId17" Target="../media/image128.png" Type="http://schemas.openxmlformats.org/officeDocument/2006/relationships/image"/><Relationship Id="rId18" Target="../media/image129.png" Type="http://schemas.openxmlformats.org/officeDocument/2006/relationships/image"/><Relationship Id="rId19" Target="../media/image130.png" Type="http://schemas.openxmlformats.org/officeDocument/2006/relationships/image"/><Relationship Id="rId2" Target="../media/image113.png" Type="http://schemas.openxmlformats.org/officeDocument/2006/relationships/image"/><Relationship Id="rId20" Target="../media/image131.png" Type="http://schemas.openxmlformats.org/officeDocument/2006/relationships/image"/><Relationship Id="rId21" Target="../media/image132.png" Type="http://schemas.openxmlformats.org/officeDocument/2006/relationships/image"/><Relationship Id="rId3" Target="../media/image114.png" Type="http://schemas.openxmlformats.org/officeDocument/2006/relationships/image"/><Relationship Id="rId4" Target="../media/image115.png" Type="http://schemas.openxmlformats.org/officeDocument/2006/relationships/image"/><Relationship Id="rId5" Target="../media/image116.png" Type="http://schemas.openxmlformats.org/officeDocument/2006/relationships/image"/><Relationship Id="rId6" Target="../media/image117.png" Type="http://schemas.openxmlformats.org/officeDocument/2006/relationships/image"/><Relationship Id="rId7" Target="../media/image118.png" Type="http://schemas.openxmlformats.org/officeDocument/2006/relationships/image"/><Relationship Id="rId8" Target="../media/image119.png" Type="http://schemas.openxmlformats.org/officeDocument/2006/relationships/image"/><Relationship Id="rId9" Target="../media/image1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3504" y="886839"/>
            <a:ext cx="5779008" cy="1253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86"/>
              </a:lnSpc>
            </a:pPr>
            <a:r>
              <a:rPr lang="en-US" b="true" sz="9679" spc="-193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SEPSIS-</a:t>
            </a:r>
            <a:r>
              <a:rPr lang="en-US" b="true" sz="9679" spc="-193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8368" y="2346359"/>
            <a:ext cx="7607808" cy="39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333" spc="-46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AI-Driven Sepsis Risk Monitoring &amp; Clinical Decision Support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8368" y="3336564"/>
            <a:ext cx="10040112" cy="284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7"/>
              </a:lnSpc>
            </a:pPr>
            <a:r>
              <a:rPr lang="en-US" b="true" sz="5701" spc="-114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DON'T JUST</a:t>
            </a:r>
          </a:p>
          <a:p>
            <a:pPr algn="l">
              <a:lnSpc>
                <a:spcPts val="5587"/>
              </a:lnSpc>
            </a:pPr>
            <a:r>
              <a:rPr lang="en-US" b="true" sz="5701" spc="-114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MONITOR THE NUMBERS.</a:t>
            </a:r>
          </a:p>
          <a:p>
            <a:pPr algn="l">
              <a:lnSpc>
                <a:spcPts val="5587"/>
              </a:lnSpc>
            </a:pPr>
            <a:r>
              <a:rPr lang="en-US" b="true" sz="5701" spc="-114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UNDERSTAND</a:t>
            </a:r>
            <a:r>
              <a:rPr lang="en-US" b="true" sz="5701" spc="-114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THE TRAJECTORY.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8368" y="6373693"/>
            <a:ext cx="6547104" cy="990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1"/>
              </a:lnSpc>
            </a:pPr>
            <a:r>
              <a:rPr lang="en-US" sz="2858" spc="-57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Transforming multi-parameter patient data into actionable clinical insights.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7925691"/>
            <a:ext cx="7853340" cy="218640"/>
          </a:xfrm>
          <a:custGeom>
            <a:avLst/>
            <a:gdLst/>
            <a:ahLst/>
            <a:cxnLst/>
            <a:rect r="r" b="b" t="t" l="l"/>
            <a:pathLst>
              <a:path h="218640" w="7853340">
                <a:moveTo>
                  <a:pt x="0" y="0"/>
                </a:moveTo>
                <a:lnTo>
                  <a:pt x="7853340" y="0"/>
                </a:lnTo>
                <a:lnTo>
                  <a:pt x="785334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8368" y="8481366"/>
            <a:ext cx="3364992" cy="47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3"/>
              </a:lnSpc>
            </a:pPr>
            <a:r>
              <a:rPr lang="en-US" sz="2788" spc="-55" b="true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Team Zynova Xypher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8368" y="9167722"/>
            <a:ext cx="7315200" cy="421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2"/>
              </a:lnSpc>
            </a:pPr>
            <a:r>
              <a:rPr lang="en-US" sz="2494" spc="-49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Healthcare × Artificial Intelligence × Clinical Monitoring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4944" y="601981"/>
            <a:ext cx="8156448" cy="1388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14"/>
              </a:lnSpc>
            </a:pPr>
            <a:r>
              <a:rPr lang="en-US" sz="9178" b="true">
                <a:solidFill>
                  <a:srgbClr val="E0E0E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THE PROBLEM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0" y="634055"/>
            <a:ext cx="5447024" cy="1300906"/>
          </a:xfrm>
          <a:custGeom>
            <a:avLst/>
            <a:gdLst/>
            <a:ahLst/>
            <a:cxnLst/>
            <a:rect r="r" b="b" t="t" l="l"/>
            <a:pathLst>
              <a:path h="1300906" w="5447024">
                <a:moveTo>
                  <a:pt x="0" y="0"/>
                </a:moveTo>
                <a:lnTo>
                  <a:pt x="5447024" y="0"/>
                </a:lnTo>
                <a:lnTo>
                  <a:pt x="544702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2350377"/>
            <a:ext cx="4145426" cy="5159898"/>
          </a:xfrm>
          <a:custGeom>
            <a:avLst/>
            <a:gdLst/>
            <a:ahLst/>
            <a:cxnLst/>
            <a:rect r="r" b="b" t="t" l="l"/>
            <a:pathLst>
              <a:path h="5159898" w="4145426">
                <a:moveTo>
                  <a:pt x="0" y="0"/>
                </a:moveTo>
                <a:lnTo>
                  <a:pt x="4145426" y="0"/>
                </a:lnTo>
                <a:lnTo>
                  <a:pt x="4145426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70432" y="2737345"/>
            <a:ext cx="822960" cy="87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29"/>
              </a:lnSpc>
            </a:pPr>
            <a:r>
              <a:rPr lang="en-US" sz="5690" b="true">
                <a:solidFill>
                  <a:srgbClr val="38B6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821952" y="2776725"/>
            <a:ext cx="1542230" cy="1519546"/>
          </a:xfrm>
          <a:custGeom>
            <a:avLst/>
            <a:gdLst/>
            <a:ahLst/>
            <a:cxnLst/>
            <a:rect r="r" b="b" t="t" l="l"/>
            <a:pathLst>
              <a:path h="1519546" w="1542230">
                <a:moveTo>
                  <a:pt x="0" y="0"/>
                </a:moveTo>
                <a:lnTo>
                  <a:pt x="1542230" y="0"/>
                </a:lnTo>
                <a:lnTo>
                  <a:pt x="154223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88720" y="4669571"/>
            <a:ext cx="2377440" cy="89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990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Multiple Data Sources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8720" y="5791698"/>
            <a:ext cx="3090672" cy="1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14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Vital and laboratory measurements need to be interpreted together.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779818" y="2350377"/>
            <a:ext cx="4364182" cy="5159898"/>
          </a:xfrm>
          <a:custGeom>
            <a:avLst/>
            <a:gdLst/>
            <a:ahLst/>
            <a:cxnLst/>
            <a:rect r="r" b="b" t="t" l="l"/>
            <a:pathLst>
              <a:path h="5159898" w="4364182">
                <a:moveTo>
                  <a:pt x="0" y="0"/>
                </a:moveTo>
                <a:lnTo>
                  <a:pt x="4364182" y="0"/>
                </a:lnTo>
                <a:lnTo>
                  <a:pt x="4364182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376672" y="2756395"/>
            <a:ext cx="877824" cy="85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6"/>
              </a:lnSpc>
            </a:pPr>
            <a:r>
              <a:rPr lang="en-US" sz="5730" b="true">
                <a:solidFill>
                  <a:srgbClr val="38B6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956440" y="2776725"/>
            <a:ext cx="1760986" cy="1519546"/>
          </a:xfrm>
          <a:custGeom>
            <a:avLst/>
            <a:gdLst/>
            <a:ahLst/>
            <a:cxnLst/>
            <a:rect r="r" b="b" t="t" l="l"/>
            <a:pathLst>
              <a:path h="1519546" w="1760986">
                <a:moveTo>
                  <a:pt x="0" y="0"/>
                </a:moveTo>
                <a:lnTo>
                  <a:pt x="1760986" y="0"/>
                </a:lnTo>
                <a:lnTo>
                  <a:pt x="176098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394960" y="4660046"/>
            <a:ext cx="3035808" cy="90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sz="2949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Changing Patient Condition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94960" y="5776761"/>
            <a:ext cx="2157984" cy="122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22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single reading represents only one moment.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144000" y="2350377"/>
            <a:ext cx="4145426" cy="5159898"/>
          </a:xfrm>
          <a:custGeom>
            <a:avLst/>
            <a:gdLst/>
            <a:ahLst/>
            <a:cxnLst/>
            <a:rect r="r" b="b" t="t" l="l"/>
            <a:pathLst>
              <a:path h="5159898" w="4145426">
                <a:moveTo>
                  <a:pt x="0" y="0"/>
                </a:moveTo>
                <a:lnTo>
                  <a:pt x="4145426" y="0"/>
                </a:lnTo>
                <a:lnTo>
                  <a:pt x="4145426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546336" y="2756395"/>
            <a:ext cx="877824" cy="85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6"/>
              </a:lnSpc>
            </a:pPr>
            <a:r>
              <a:rPr lang="en-US" sz="5730" b="true">
                <a:solidFill>
                  <a:srgbClr val="38B6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03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101866" y="2776725"/>
            <a:ext cx="1750048" cy="1519546"/>
          </a:xfrm>
          <a:custGeom>
            <a:avLst/>
            <a:gdLst/>
            <a:ahLst/>
            <a:cxnLst/>
            <a:rect r="r" b="b" t="t" l="l"/>
            <a:pathLst>
              <a:path h="1519546" w="1750048">
                <a:moveTo>
                  <a:pt x="0" y="0"/>
                </a:moveTo>
                <a:lnTo>
                  <a:pt x="1750048" y="0"/>
                </a:lnTo>
                <a:lnTo>
                  <a:pt x="1750048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564624" y="4636775"/>
            <a:ext cx="3090672" cy="96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3191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Difficult Trend Recognition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64624" y="5745425"/>
            <a:ext cx="3182112" cy="129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Changes become more meaningful when viewed historically.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3278488" y="2350377"/>
            <a:ext cx="4364182" cy="5159898"/>
          </a:xfrm>
          <a:custGeom>
            <a:avLst/>
            <a:gdLst/>
            <a:ahLst/>
            <a:cxnLst/>
            <a:rect r="r" b="b" t="t" l="l"/>
            <a:pathLst>
              <a:path h="5159898" w="4364182">
                <a:moveTo>
                  <a:pt x="0" y="0"/>
                </a:moveTo>
                <a:lnTo>
                  <a:pt x="4364182" y="0"/>
                </a:lnTo>
                <a:lnTo>
                  <a:pt x="4364182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807440" y="2756395"/>
            <a:ext cx="877824" cy="85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6"/>
              </a:lnSpc>
            </a:pPr>
            <a:r>
              <a:rPr lang="en-US" sz="5730" b="true">
                <a:solidFill>
                  <a:srgbClr val="38B6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04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5017598" y="2995365"/>
            <a:ext cx="1968804" cy="1300906"/>
          </a:xfrm>
          <a:custGeom>
            <a:avLst/>
            <a:gdLst/>
            <a:ahLst/>
            <a:cxnLst/>
            <a:rect r="r" b="b" t="t" l="l"/>
            <a:pathLst>
              <a:path h="1300906" w="1968804">
                <a:moveTo>
                  <a:pt x="0" y="0"/>
                </a:moveTo>
                <a:lnTo>
                  <a:pt x="1968804" y="0"/>
                </a:lnTo>
                <a:lnTo>
                  <a:pt x="196880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825728" y="4669571"/>
            <a:ext cx="1975104" cy="89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990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Monitoring Burden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825728" y="5792185"/>
            <a:ext cx="2633472" cy="119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7"/>
              </a:lnSpc>
            </a:pPr>
            <a:r>
              <a:rPr lang="en-US" sz="21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Multiple parameters require continuous interpretation.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45330" y="7499343"/>
            <a:ext cx="16997340" cy="2153601"/>
          </a:xfrm>
          <a:custGeom>
            <a:avLst/>
            <a:gdLst/>
            <a:ahLst/>
            <a:cxnLst/>
            <a:rect r="r" b="b" t="t" l="l"/>
            <a:pathLst>
              <a:path h="2153601" w="16997340">
                <a:moveTo>
                  <a:pt x="0" y="0"/>
                </a:moveTo>
                <a:lnTo>
                  <a:pt x="16997340" y="0"/>
                </a:lnTo>
                <a:lnTo>
                  <a:pt x="16997340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82842" y="8133399"/>
            <a:ext cx="6978316" cy="229572"/>
          </a:xfrm>
          <a:custGeom>
            <a:avLst/>
            <a:gdLst/>
            <a:ahLst/>
            <a:cxnLst/>
            <a:rect r="r" b="b" t="t" l="l"/>
            <a:pathLst>
              <a:path h="229572" w="6978316">
                <a:moveTo>
                  <a:pt x="0" y="0"/>
                </a:moveTo>
                <a:lnTo>
                  <a:pt x="6978316" y="0"/>
                </a:lnTo>
                <a:lnTo>
                  <a:pt x="697831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156448" y="7916120"/>
            <a:ext cx="1975104" cy="51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2"/>
              </a:lnSpc>
            </a:pPr>
            <a:r>
              <a:rPr lang="en-US" b="true" sz="3401">
                <a:solidFill>
                  <a:srgbClr val="FF3131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THE GAP 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0226842" y="8133399"/>
            <a:ext cx="6978316" cy="229572"/>
          </a:xfrm>
          <a:custGeom>
            <a:avLst/>
            <a:gdLst/>
            <a:ahLst/>
            <a:cxnLst/>
            <a:rect r="r" b="b" t="t" l="l"/>
            <a:pathLst>
              <a:path h="229572" w="6978316">
                <a:moveTo>
                  <a:pt x="0" y="0"/>
                </a:moveTo>
                <a:lnTo>
                  <a:pt x="6978316" y="0"/>
                </a:lnTo>
                <a:lnTo>
                  <a:pt x="697831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602736" y="8594400"/>
            <a:ext cx="11082528" cy="71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4"/>
              </a:lnSpc>
            </a:pPr>
            <a:r>
              <a:rPr lang="en-US" b="true" sz="4703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HOW DO WE CONNECT THE </a:t>
            </a:r>
            <a:r>
              <a:rPr lang="en-US" b="true" sz="4703">
                <a:solidFill>
                  <a:srgbClr val="38B6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SIGNALS?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352038"/>
            <a:ext cx="18288000" cy="1934962"/>
          </a:xfrm>
          <a:custGeom>
            <a:avLst/>
            <a:gdLst/>
            <a:ahLst/>
            <a:cxnLst/>
            <a:rect r="r" b="b" t="t" l="l"/>
            <a:pathLst>
              <a:path h="1934962" w="18288000">
                <a:moveTo>
                  <a:pt x="0" y="0"/>
                </a:moveTo>
                <a:lnTo>
                  <a:pt x="18288000" y="0"/>
                </a:lnTo>
                <a:lnTo>
                  <a:pt x="1828800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4400" y="689780"/>
            <a:ext cx="10533888" cy="197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8"/>
              </a:lnSpc>
            </a:pPr>
            <a:r>
              <a:rPr lang="en-US" b="true" sz="8409" spc="-168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WE BRING THE </a:t>
            </a:r>
            <a:r>
              <a:rPr lang="en-US" b="true" sz="8409" spc="-168">
                <a:solidFill>
                  <a:srgbClr val="00BA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SIGNALS</a:t>
            </a:r>
            <a:r>
              <a:rPr lang="en-US" b="true" sz="8409" spc="-168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TOGETHER.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2789630"/>
            <a:ext cx="8522208" cy="8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723" spc="-54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SEPSIS-AI creates a unified monitoring environment for understanding current status and changing clinical trends.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3848060"/>
            <a:ext cx="4582938" cy="4514911"/>
          </a:xfrm>
          <a:custGeom>
            <a:avLst/>
            <a:gdLst/>
            <a:ahLst/>
            <a:cxnLst/>
            <a:rect r="r" b="b" t="t" l="l"/>
            <a:pathLst>
              <a:path h="4514911" w="4582938">
                <a:moveTo>
                  <a:pt x="0" y="0"/>
                </a:moveTo>
                <a:lnTo>
                  <a:pt x="4582938" y="0"/>
                </a:lnTo>
                <a:lnTo>
                  <a:pt x="4582938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29968" y="4339669"/>
            <a:ext cx="2322576" cy="32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7"/>
              </a:lnSpc>
            </a:pPr>
            <a:r>
              <a:rPr lang="en-US" b="true" sz="2753" spc="-55">
                <a:solidFill>
                  <a:srgbClr val="00BA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PATIENT DATA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01598" y="5138034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43200" y="5436324"/>
            <a:ext cx="1426464" cy="360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384" spc="-47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Vital Signs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01598" y="6635716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43200" y="6762929"/>
            <a:ext cx="1536192" cy="75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384" spc="-47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Laboratory Parameters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436086" y="5564382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311110" y="3848060"/>
            <a:ext cx="4801694" cy="4514911"/>
          </a:xfrm>
          <a:custGeom>
            <a:avLst/>
            <a:gdLst/>
            <a:ahLst/>
            <a:cxnLst/>
            <a:rect r="r" b="b" t="t" l="l"/>
            <a:pathLst>
              <a:path h="4514911" w="4801694">
                <a:moveTo>
                  <a:pt x="0" y="0"/>
                </a:moveTo>
                <a:lnTo>
                  <a:pt x="4801694" y="0"/>
                </a:lnTo>
                <a:lnTo>
                  <a:pt x="4801694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095744" y="4331477"/>
            <a:ext cx="3291840" cy="332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4"/>
              </a:lnSpc>
            </a:pPr>
            <a:r>
              <a:rPr lang="en-US" b="true" sz="2683" spc="-53">
                <a:solidFill>
                  <a:srgbClr val="00BA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SEPSIS-AI ANALYSIS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748622" y="4919394"/>
            <a:ext cx="1093780" cy="1300906"/>
          </a:xfrm>
          <a:custGeom>
            <a:avLst/>
            <a:gdLst/>
            <a:ahLst/>
            <a:cxnLst/>
            <a:rect r="r" b="b" t="t" l="l"/>
            <a:pathLst>
              <a:path h="1300906" w="1093780">
                <a:moveTo>
                  <a:pt x="0" y="0"/>
                </a:moveTo>
                <a:lnTo>
                  <a:pt x="1093780" y="0"/>
                </a:lnTo>
                <a:lnTo>
                  <a:pt x="1093780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119872" y="5209592"/>
            <a:ext cx="2194560" cy="75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384" spc="-47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Multi-Parameter Assessment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748622" y="6635716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119872" y="6762929"/>
            <a:ext cx="2121408" cy="75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384" spc="-47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Historical Trend Analysis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101866" y="5564382"/>
            <a:ext cx="875024" cy="655919"/>
          </a:xfrm>
          <a:custGeom>
            <a:avLst/>
            <a:gdLst/>
            <a:ahLst/>
            <a:cxnLst/>
            <a:rect r="r" b="b" t="t" l="l"/>
            <a:pathLst>
              <a:path h="655919" w="875024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965952" y="3848060"/>
            <a:ext cx="5457962" cy="4514911"/>
          </a:xfrm>
          <a:custGeom>
            <a:avLst/>
            <a:gdLst/>
            <a:ahLst/>
            <a:cxnLst/>
            <a:rect r="r" b="b" t="t" l="l"/>
            <a:pathLst>
              <a:path h="4514911" w="5457962">
                <a:moveTo>
                  <a:pt x="0" y="0"/>
                </a:moveTo>
                <a:lnTo>
                  <a:pt x="5457962" y="0"/>
                </a:lnTo>
                <a:lnTo>
                  <a:pt x="5457962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167360" y="4337609"/>
            <a:ext cx="2907792" cy="31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b="true" sz="2648" spc="-52">
                <a:solidFill>
                  <a:srgbClr val="00BA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CLINICAL OUTPUT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2184708" y="4919394"/>
            <a:ext cx="4801694" cy="1082267"/>
          </a:xfrm>
          <a:custGeom>
            <a:avLst/>
            <a:gdLst/>
            <a:ahLst/>
            <a:cxnLst/>
            <a:rect r="r" b="b" t="t" l="l"/>
            <a:pathLst>
              <a:path h="1082267" w="4801694">
                <a:moveTo>
                  <a:pt x="0" y="0"/>
                </a:moveTo>
                <a:lnTo>
                  <a:pt x="4801694" y="0"/>
                </a:lnTo>
                <a:lnTo>
                  <a:pt x="4801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622220" y="4919394"/>
            <a:ext cx="667206" cy="874559"/>
          </a:xfrm>
          <a:custGeom>
            <a:avLst/>
            <a:gdLst/>
            <a:ahLst/>
            <a:cxnLst/>
            <a:rect r="r" b="b" t="t" l="l"/>
            <a:pathLst>
              <a:path h="874559" w="667206">
                <a:moveTo>
                  <a:pt x="0" y="0"/>
                </a:moveTo>
                <a:lnTo>
                  <a:pt x="667206" y="0"/>
                </a:lnTo>
                <a:lnTo>
                  <a:pt x="66720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716000" y="5207753"/>
            <a:ext cx="1865376" cy="43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b="true" sz="2893" spc="-57">
                <a:solidFill>
                  <a:srgbClr val="7ED957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LOW RISK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2184708" y="5990729"/>
            <a:ext cx="4801694" cy="1082267"/>
          </a:xfrm>
          <a:custGeom>
            <a:avLst/>
            <a:gdLst/>
            <a:ahLst/>
            <a:cxnLst/>
            <a:rect r="r" b="b" t="t" l="l"/>
            <a:pathLst>
              <a:path h="1082267" w="4801694">
                <a:moveTo>
                  <a:pt x="0" y="0"/>
                </a:moveTo>
                <a:lnTo>
                  <a:pt x="4801694" y="0"/>
                </a:lnTo>
                <a:lnTo>
                  <a:pt x="4801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622220" y="5990729"/>
            <a:ext cx="667206" cy="874559"/>
          </a:xfrm>
          <a:custGeom>
            <a:avLst/>
            <a:gdLst/>
            <a:ahLst/>
            <a:cxnLst/>
            <a:rect r="r" b="b" t="t" l="l"/>
            <a:pathLst>
              <a:path h="874559" w="667206">
                <a:moveTo>
                  <a:pt x="0" y="0"/>
                </a:moveTo>
                <a:lnTo>
                  <a:pt x="667206" y="0"/>
                </a:lnTo>
                <a:lnTo>
                  <a:pt x="66720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697712" y="6313928"/>
            <a:ext cx="2852928" cy="42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b="true" sz="2823" spc="-56">
                <a:solidFill>
                  <a:srgbClr val="F4D04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MODERATE RISK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2184708" y="7062064"/>
            <a:ext cx="4801694" cy="1082267"/>
          </a:xfrm>
          <a:custGeom>
            <a:avLst/>
            <a:gdLst/>
            <a:ahLst/>
            <a:cxnLst/>
            <a:rect r="r" b="b" t="t" l="l"/>
            <a:pathLst>
              <a:path h="1082267" w="4801694">
                <a:moveTo>
                  <a:pt x="0" y="0"/>
                </a:moveTo>
                <a:lnTo>
                  <a:pt x="4801694" y="0"/>
                </a:lnTo>
                <a:lnTo>
                  <a:pt x="4801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622220" y="7280704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716000" y="7398884"/>
            <a:ext cx="1865376" cy="43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b="true" sz="2893" spc="-57">
                <a:solidFill>
                  <a:srgbClr val="FF5757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HIGH RISK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4134488" y="8778386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4919472" y="9032921"/>
            <a:ext cx="8449056" cy="31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2142" spc="-42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Clinical decision support — not a replacement for professional diagnosis.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3497244" y="8778386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5216" y="381635"/>
            <a:ext cx="9363456" cy="1088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3"/>
              </a:lnSpc>
            </a:pPr>
            <a:r>
              <a:rPr lang="en-US" sz="6373" b="true">
                <a:solidFill>
                  <a:srgbClr val="D9D9D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HOW SEPSIS-AI WORKS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39110" y="1705390"/>
            <a:ext cx="3707914" cy="874559"/>
          </a:xfrm>
          <a:custGeom>
            <a:avLst/>
            <a:gdLst/>
            <a:ahLst/>
            <a:cxnLst/>
            <a:rect r="r" b="b" t="t" l="l"/>
            <a:pathLst>
              <a:path h="874559" w="3707914">
                <a:moveTo>
                  <a:pt x="0" y="0"/>
                </a:moveTo>
                <a:lnTo>
                  <a:pt x="3707914" y="0"/>
                </a:lnTo>
                <a:lnTo>
                  <a:pt x="370791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17330" y="1497682"/>
            <a:ext cx="7415828" cy="1289974"/>
          </a:xfrm>
          <a:custGeom>
            <a:avLst/>
            <a:gdLst/>
            <a:ahLst/>
            <a:cxnLst/>
            <a:rect r="r" b="b" t="t" l="l"/>
            <a:pathLst>
              <a:path h="1289974" w="7415828">
                <a:moveTo>
                  <a:pt x="0" y="0"/>
                </a:moveTo>
                <a:lnTo>
                  <a:pt x="7415828" y="0"/>
                </a:lnTo>
                <a:lnTo>
                  <a:pt x="7415828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76288" y="1752219"/>
            <a:ext cx="2048256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6"/>
              </a:lnSpc>
            </a:pPr>
            <a:r>
              <a:rPr lang="en-US" sz="2683" b="true">
                <a:solidFill>
                  <a:srgbClr val="D9D9D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DATA INPUT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76288" y="2174239"/>
            <a:ext cx="4864608" cy="34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8">
                <a:solidFill>
                  <a:srgbClr val="D9D9D9"/>
                </a:solidFill>
                <a:latin typeface="Arial Nova"/>
                <a:ea typeface="Arial Nova"/>
                <a:cs typeface="Arial Nova"/>
                <a:sym typeface="Arial Nova"/>
              </a:rPr>
              <a:t>Patient vital and laboratory measurements.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925244" y="2569017"/>
            <a:ext cx="437512" cy="655919"/>
          </a:xfrm>
          <a:custGeom>
            <a:avLst/>
            <a:gdLst/>
            <a:ahLst/>
            <a:cxnLst/>
            <a:rect r="r" b="b" t="t" l="l"/>
            <a:pathLst>
              <a:path h="655919" w="437512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03464" y="1924030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217330" y="2776725"/>
            <a:ext cx="7415828" cy="1519546"/>
          </a:xfrm>
          <a:custGeom>
            <a:avLst/>
            <a:gdLst/>
            <a:ahLst/>
            <a:cxnLst/>
            <a:rect r="r" b="b" t="t" l="l"/>
            <a:pathLst>
              <a:path h="1519546" w="7415828">
                <a:moveTo>
                  <a:pt x="0" y="0"/>
                </a:moveTo>
                <a:lnTo>
                  <a:pt x="7415828" y="0"/>
                </a:lnTo>
                <a:lnTo>
                  <a:pt x="7415828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779008" y="3129216"/>
            <a:ext cx="512064" cy="110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499">
                <a:solidFill>
                  <a:srgbClr val="38B6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76288" y="3419031"/>
            <a:ext cx="3218688" cy="45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true">
                <a:solidFill>
                  <a:srgbClr val="D9D9D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DATA PROCESSING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925244" y="4066699"/>
            <a:ext cx="437512" cy="655919"/>
          </a:xfrm>
          <a:custGeom>
            <a:avLst/>
            <a:gdLst/>
            <a:ahLst/>
            <a:cxnLst/>
            <a:rect r="r" b="b" t="t" l="l"/>
            <a:pathLst>
              <a:path h="655919" w="437512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915732" y="3421712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217330" y="4285339"/>
            <a:ext cx="7415828" cy="1508614"/>
          </a:xfrm>
          <a:custGeom>
            <a:avLst/>
            <a:gdLst/>
            <a:ahLst/>
            <a:cxnLst/>
            <a:rect r="r" b="b" t="t" l="l"/>
            <a:pathLst>
              <a:path h="1508614" w="7415828">
                <a:moveTo>
                  <a:pt x="0" y="0"/>
                </a:moveTo>
                <a:lnTo>
                  <a:pt x="7415828" y="0"/>
                </a:lnTo>
                <a:lnTo>
                  <a:pt x="741582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876288" y="4844346"/>
            <a:ext cx="5084064" cy="469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5"/>
              </a:lnSpc>
            </a:pPr>
            <a:r>
              <a:rPr lang="en-US" sz="2718" b="true">
                <a:solidFill>
                  <a:srgbClr val="D9D9D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MULTI-PARAMETER ANALYSIS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925244" y="5356674"/>
            <a:ext cx="437512" cy="644987"/>
          </a:xfrm>
          <a:custGeom>
            <a:avLst/>
            <a:gdLst/>
            <a:ahLst/>
            <a:cxnLst/>
            <a:rect r="r" b="b" t="t" l="l"/>
            <a:pathLst>
              <a:path h="644987" w="437512">
                <a:moveTo>
                  <a:pt x="0" y="0"/>
                </a:moveTo>
                <a:lnTo>
                  <a:pt x="437512" y="0"/>
                </a:lnTo>
                <a:lnTo>
                  <a:pt x="43751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403464" y="4711687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217330" y="5783021"/>
            <a:ext cx="7415828" cy="1289974"/>
          </a:xfrm>
          <a:custGeom>
            <a:avLst/>
            <a:gdLst/>
            <a:ahLst/>
            <a:cxnLst/>
            <a:rect r="r" b="b" t="t" l="l"/>
            <a:pathLst>
              <a:path h="1289974" w="7415828">
                <a:moveTo>
                  <a:pt x="0" y="0"/>
                </a:moveTo>
                <a:lnTo>
                  <a:pt x="7415828" y="0"/>
                </a:lnTo>
                <a:lnTo>
                  <a:pt x="7415828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779008" y="5927280"/>
            <a:ext cx="512064" cy="110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499">
                <a:solidFill>
                  <a:srgbClr val="38B6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76288" y="6227064"/>
            <a:ext cx="3712464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6"/>
              </a:lnSpc>
            </a:pPr>
            <a:r>
              <a:rPr lang="en-US" sz="2683" b="true">
                <a:solidFill>
                  <a:srgbClr val="D9D9D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RISK STRATIFICATION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925244" y="6854356"/>
            <a:ext cx="437512" cy="655919"/>
          </a:xfrm>
          <a:custGeom>
            <a:avLst/>
            <a:gdLst/>
            <a:ahLst/>
            <a:cxnLst/>
            <a:rect r="r" b="b" t="t" l="l"/>
            <a:pathLst>
              <a:path h="655919" w="437512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915732" y="6209369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217330" y="7062064"/>
            <a:ext cx="7415828" cy="1519546"/>
          </a:xfrm>
          <a:custGeom>
            <a:avLst/>
            <a:gdLst/>
            <a:ahLst/>
            <a:cxnLst/>
            <a:rect r="r" b="b" t="t" l="l"/>
            <a:pathLst>
              <a:path h="1519546" w="7415828">
                <a:moveTo>
                  <a:pt x="0" y="0"/>
                </a:moveTo>
                <a:lnTo>
                  <a:pt x="7415828" y="0"/>
                </a:lnTo>
                <a:lnTo>
                  <a:pt x="7415828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876288" y="7621836"/>
            <a:ext cx="4078224" cy="469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5"/>
              </a:lnSpc>
            </a:pPr>
            <a:r>
              <a:rPr lang="en-US" sz="2718" b="true">
                <a:solidFill>
                  <a:srgbClr val="D9D9D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TRAJECTORY ANALYSIS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8925244" y="8133399"/>
            <a:ext cx="437512" cy="655919"/>
          </a:xfrm>
          <a:custGeom>
            <a:avLst/>
            <a:gdLst/>
            <a:ahLst/>
            <a:cxnLst/>
            <a:rect r="r" b="b" t="t" l="l"/>
            <a:pathLst>
              <a:path h="655919" w="437512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915732" y="7707051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217330" y="8570678"/>
            <a:ext cx="7415828" cy="1289974"/>
          </a:xfrm>
          <a:custGeom>
            <a:avLst/>
            <a:gdLst/>
            <a:ahLst/>
            <a:cxnLst/>
            <a:rect r="r" b="b" t="t" l="l"/>
            <a:pathLst>
              <a:path h="1289974" w="7415828">
                <a:moveTo>
                  <a:pt x="0" y="0"/>
                </a:moveTo>
                <a:lnTo>
                  <a:pt x="7415828" y="0"/>
                </a:lnTo>
                <a:lnTo>
                  <a:pt x="741582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5779008" y="8684196"/>
            <a:ext cx="512064" cy="110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499">
                <a:solidFill>
                  <a:srgbClr val="38B6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76288" y="8871141"/>
            <a:ext cx="3822192" cy="45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true">
                <a:solidFill>
                  <a:srgbClr val="D9D9D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CLINICAL DASHBOARD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76288" y="9299790"/>
            <a:ext cx="3090672" cy="394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2287">
                <a:solidFill>
                  <a:srgbClr val="D9D9D9"/>
                </a:solidFill>
                <a:latin typeface="Arial Nova"/>
                <a:ea typeface="Arial Nova"/>
                <a:cs typeface="Arial Nova"/>
                <a:sym typeface="Arial Nova"/>
              </a:rPr>
              <a:t>Risk + Trends + Insights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2403464" y="7707051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5852160" y="1658175"/>
            <a:ext cx="329184" cy="110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499">
                <a:solidFill>
                  <a:srgbClr val="38B6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779008" y="4559109"/>
            <a:ext cx="512064" cy="110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499">
                <a:solidFill>
                  <a:srgbClr val="38B6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779008" y="7336599"/>
            <a:ext cx="512064" cy="110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499">
                <a:solidFill>
                  <a:srgbClr val="38B6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59464" y="426348"/>
            <a:ext cx="6978316" cy="437279"/>
          </a:xfrm>
          <a:custGeom>
            <a:avLst/>
            <a:gdLst/>
            <a:ahLst/>
            <a:cxnLst/>
            <a:rect r="r" b="b" t="t" l="l"/>
            <a:pathLst>
              <a:path h="437279" w="6978316">
                <a:moveTo>
                  <a:pt x="0" y="0"/>
                </a:moveTo>
                <a:lnTo>
                  <a:pt x="6978316" y="0"/>
                </a:lnTo>
                <a:lnTo>
                  <a:pt x="697831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78488" y="207708"/>
            <a:ext cx="3051646" cy="1300906"/>
          </a:xfrm>
          <a:custGeom>
            <a:avLst/>
            <a:gdLst/>
            <a:ahLst/>
            <a:cxnLst/>
            <a:rect r="r" b="b" t="t" l="l"/>
            <a:pathLst>
              <a:path h="1300906" w="3051646">
                <a:moveTo>
                  <a:pt x="0" y="0"/>
                </a:moveTo>
                <a:lnTo>
                  <a:pt x="3051646" y="0"/>
                </a:lnTo>
                <a:lnTo>
                  <a:pt x="305164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6656" y="1054915"/>
            <a:ext cx="12911328" cy="155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9"/>
              </a:lnSpc>
            </a:pPr>
            <a:r>
              <a:rPr lang="en-US" b="true" sz="5158" spc="-103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 SINGLE READING SHOWS THE </a:t>
            </a:r>
            <a:r>
              <a:rPr lang="en-US" b="true" sz="5158" spc="-103">
                <a:solidFill>
                  <a:srgbClr val="00BA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PRESENT</a:t>
            </a:r>
            <a:r>
              <a:rPr lang="en-US" b="true" sz="5158" spc="-103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.</a:t>
            </a:r>
          </a:p>
          <a:p>
            <a:pPr algn="l">
              <a:lnSpc>
                <a:spcPts val="6189"/>
              </a:lnSpc>
            </a:pPr>
            <a:r>
              <a:rPr lang="en-US" b="true" sz="5158" spc="-103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 TREND SHOWS THE </a:t>
            </a:r>
            <a:r>
              <a:rPr lang="en-US" b="true" sz="5158" spc="-103">
                <a:solidFill>
                  <a:srgbClr val="00BA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DIRECTION.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6574" y="2776725"/>
            <a:ext cx="4364182" cy="3869923"/>
          </a:xfrm>
          <a:custGeom>
            <a:avLst/>
            <a:gdLst/>
            <a:ahLst/>
            <a:cxnLst/>
            <a:rect r="r" b="b" t="t" l="l"/>
            <a:pathLst>
              <a:path h="3869923" w="4364182">
                <a:moveTo>
                  <a:pt x="0" y="0"/>
                </a:moveTo>
                <a:lnTo>
                  <a:pt x="4364182" y="0"/>
                </a:lnTo>
                <a:lnTo>
                  <a:pt x="436418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4086" y="3848060"/>
            <a:ext cx="3500096" cy="1519546"/>
          </a:xfrm>
          <a:custGeom>
            <a:avLst/>
            <a:gdLst/>
            <a:ahLst/>
            <a:cxnLst/>
            <a:rect r="r" b="b" t="t" l="l"/>
            <a:pathLst>
              <a:path h="1519546" w="3500096">
                <a:moveTo>
                  <a:pt x="0" y="0"/>
                </a:moveTo>
                <a:lnTo>
                  <a:pt x="3500096" y="0"/>
                </a:lnTo>
                <a:lnTo>
                  <a:pt x="350009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779818" y="2776725"/>
            <a:ext cx="4364182" cy="3869923"/>
          </a:xfrm>
          <a:custGeom>
            <a:avLst/>
            <a:gdLst/>
            <a:ahLst/>
            <a:cxnLst/>
            <a:rect r="r" b="b" t="t" l="l"/>
            <a:pathLst>
              <a:path h="3869923" w="4364182">
                <a:moveTo>
                  <a:pt x="0" y="0"/>
                </a:moveTo>
                <a:lnTo>
                  <a:pt x="4364182" y="0"/>
                </a:lnTo>
                <a:lnTo>
                  <a:pt x="436418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17330" y="3640352"/>
            <a:ext cx="3500096" cy="1727254"/>
          </a:xfrm>
          <a:custGeom>
            <a:avLst/>
            <a:gdLst/>
            <a:ahLst/>
            <a:cxnLst/>
            <a:rect r="r" b="b" t="t" l="l"/>
            <a:pathLst>
              <a:path h="1727254" w="3500096">
                <a:moveTo>
                  <a:pt x="0" y="0"/>
                </a:moveTo>
                <a:lnTo>
                  <a:pt x="3500096" y="0"/>
                </a:lnTo>
                <a:lnTo>
                  <a:pt x="350009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2776725"/>
            <a:ext cx="4364182" cy="3869923"/>
          </a:xfrm>
          <a:custGeom>
            <a:avLst/>
            <a:gdLst/>
            <a:ahLst/>
            <a:cxnLst/>
            <a:rect r="r" b="b" t="t" l="l"/>
            <a:pathLst>
              <a:path h="3869923" w="4364182">
                <a:moveTo>
                  <a:pt x="0" y="0"/>
                </a:moveTo>
                <a:lnTo>
                  <a:pt x="4364182" y="0"/>
                </a:lnTo>
                <a:lnTo>
                  <a:pt x="436418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546336" y="3727740"/>
            <a:ext cx="621792" cy="35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42" spc="-42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98%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570574" y="4066699"/>
            <a:ext cx="3500096" cy="1300906"/>
          </a:xfrm>
          <a:custGeom>
            <a:avLst/>
            <a:gdLst/>
            <a:ahLst/>
            <a:cxnLst/>
            <a:rect r="r" b="b" t="t" l="l"/>
            <a:pathLst>
              <a:path h="1300906" w="3500096">
                <a:moveTo>
                  <a:pt x="0" y="0"/>
                </a:moveTo>
                <a:lnTo>
                  <a:pt x="3500096" y="0"/>
                </a:lnTo>
                <a:lnTo>
                  <a:pt x="350009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497244" y="2776725"/>
            <a:ext cx="4364182" cy="3869923"/>
          </a:xfrm>
          <a:custGeom>
            <a:avLst/>
            <a:gdLst/>
            <a:ahLst/>
            <a:cxnLst/>
            <a:rect r="r" b="b" t="t" l="l"/>
            <a:pathLst>
              <a:path h="3869923" w="4364182">
                <a:moveTo>
                  <a:pt x="0" y="0"/>
                </a:moveTo>
                <a:lnTo>
                  <a:pt x="4364182" y="0"/>
                </a:lnTo>
                <a:lnTo>
                  <a:pt x="436418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923818" y="3640352"/>
            <a:ext cx="3500096" cy="1727254"/>
          </a:xfrm>
          <a:custGeom>
            <a:avLst/>
            <a:gdLst/>
            <a:ahLst/>
            <a:cxnLst/>
            <a:rect r="r" b="b" t="t" l="l"/>
            <a:pathLst>
              <a:path h="1727254" w="3500096">
                <a:moveTo>
                  <a:pt x="0" y="0"/>
                </a:moveTo>
                <a:lnTo>
                  <a:pt x="3500096" y="0"/>
                </a:lnTo>
                <a:lnTo>
                  <a:pt x="350009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957866" y="6635716"/>
            <a:ext cx="14372268" cy="1082267"/>
          </a:xfrm>
          <a:custGeom>
            <a:avLst/>
            <a:gdLst/>
            <a:ahLst/>
            <a:cxnLst/>
            <a:rect r="r" b="b" t="t" l="l"/>
            <a:pathLst>
              <a:path h="1082267" w="14372268">
                <a:moveTo>
                  <a:pt x="0" y="0"/>
                </a:moveTo>
                <a:lnTo>
                  <a:pt x="14372268" y="0"/>
                </a:lnTo>
                <a:lnTo>
                  <a:pt x="1437226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145536" y="6850379"/>
            <a:ext cx="2450592" cy="46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3"/>
              </a:lnSpc>
            </a:pPr>
            <a:r>
              <a:rPr lang="en-US" b="true" sz="2723" spc="-54">
                <a:solidFill>
                  <a:srgbClr val="00BA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Current Status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71232" y="6850379"/>
            <a:ext cx="2670048" cy="46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3"/>
              </a:lnSpc>
            </a:pPr>
            <a:r>
              <a:rPr lang="en-US" b="true" sz="2723" spc="-54">
                <a:solidFill>
                  <a:srgbClr val="00BA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Historical Trend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24944" y="6850379"/>
            <a:ext cx="3291840" cy="46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3"/>
              </a:lnSpc>
            </a:pPr>
            <a:r>
              <a:rPr lang="en-US" b="true" sz="2723" spc="-54">
                <a:solidFill>
                  <a:srgbClr val="00BA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Multiple Parameters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706488" y="7499343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76656" y="343317"/>
            <a:ext cx="2450592" cy="35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142" spc="-42">
                <a:solidFill>
                  <a:srgbClr val="FF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CORE INNOVATION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9536" y="2978582"/>
            <a:ext cx="1792224" cy="3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spc="-45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Temperature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48656" y="2978582"/>
            <a:ext cx="1499616" cy="3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spc="-45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Heart Rate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46336" y="2978582"/>
            <a:ext cx="731520" cy="3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spc="-45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SpO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35456" y="2978582"/>
            <a:ext cx="731520" cy="3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spc="-45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WBC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9536" y="3380741"/>
            <a:ext cx="237744" cy="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8"/>
              </a:lnSpc>
            </a:pPr>
            <a:r>
              <a:rPr lang="en-US" sz="1827" spc="-36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°C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67328" y="3385107"/>
            <a:ext cx="676656" cy="30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51" spc="-37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38.6°C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247888" y="3357408"/>
            <a:ext cx="512064" cy="35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42" spc="-42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108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35456" y="3357408"/>
            <a:ext cx="822960" cy="35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42" spc="-42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×10°L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248656" y="3357408"/>
            <a:ext cx="621792" cy="35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42" spc="-42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BPM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47888" y="3357408"/>
            <a:ext cx="512064" cy="35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42" spc="-42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108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952976" y="3347576"/>
            <a:ext cx="512064" cy="365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8" spc="-42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15.1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46336" y="3357408"/>
            <a:ext cx="237744" cy="35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42" spc="-42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%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832336" y="3357408"/>
            <a:ext cx="237744" cy="35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42" spc="-42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%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32336" y="3727740"/>
            <a:ext cx="621792" cy="35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42" spc="-42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98%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137392" y="4205486"/>
            <a:ext cx="512064" cy="34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069" spc="-41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95%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167360" y="4205486"/>
            <a:ext cx="512064" cy="34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069" spc="-41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92%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9536" y="4679792"/>
            <a:ext cx="621792" cy="27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1633" spc="-32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37.2°C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394960" y="4632996"/>
            <a:ext cx="310896" cy="35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42" spc="-42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82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063472" y="4656022"/>
            <a:ext cx="310896" cy="3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4"/>
              </a:lnSpc>
            </a:pPr>
            <a:r>
              <a:rPr lang="en-US" sz="1803" spc="-36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8.2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67712" y="4632996"/>
            <a:ext cx="822960" cy="35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42" spc="-42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38.0°C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76288" y="4632996"/>
            <a:ext cx="310896" cy="35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42" spc="-42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96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471648" y="4623164"/>
            <a:ext cx="512064" cy="365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8" spc="-42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12.4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144000" y="4632996"/>
            <a:ext cx="310896" cy="35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42" spc="-42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96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471648" y="4623164"/>
            <a:ext cx="512064" cy="365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8" spc="-42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12.4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59536" y="5906989"/>
            <a:ext cx="676656" cy="327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spc="-38">
                <a:solidFill>
                  <a:srgbClr val="FFFFFF">
                    <a:alpha val="49804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Earlier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767328" y="5906989"/>
            <a:ext cx="676656" cy="327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spc="-38">
                <a:solidFill>
                  <a:srgbClr val="FFFFFF">
                    <a:alpha val="49804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Latest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839712" y="5906989"/>
            <a:ext cx="402336" cy="327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spc="-38">
                <a:solidFill>
                  <a:srgbClr val="FFFFFF">
                    <a:alpha val="49804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Mid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192256" y="5906989"/>
            <a:ext cx="402336" cy="327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spc="-38">
                <a:solidFill>
                  <a:srgbClr val="FFFFFF">
                    <a:alpha val="49804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Mid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526512" y="5906989"/>
            <a:ext cx="402336" cy="327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spc="-38">
                <a:solidFill>
                  <a:srgbClr val="FFFFFF">
                    <a:alpha val="49804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Mid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468880" y="5906989"/>
            <a:ext cx="402336" cy="327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spc="-38">
                <a:solidFill>
                  <a:srgbClr val="FFFFFF">
                    <a:alpha val="49804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Mid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138160" y="5906989"/>
            <a:ext cx="676656" cy="327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spc="-38">
                <a:solidFill>
                  <a:srgbClr val="FFFFFF">
                    <a:alpha val="49804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Latest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490704" y="5906989"/>
            <a:ext cx="676656" cy="327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spc="-38">
                <a:solidFill>
                  <a:srgbClr val="FFFFFF">
                    <a:alpha val="49804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Latest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806672" y="5906989"/>
            <a:ext cx="676656" cy="327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spc="-38">
                <a:solidFill>
                  <a:srgbClr val="FFFFFF">
                    <a:alpha val="49804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Latest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248656" y="5906989"/>
            <a:ext cx="676656" cy="327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spc="-38">
                <a:solidFill>
                  <a:srgbClr val="FFFFFF">
                    <a:alpha val="49804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Earlier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546336" y="5906989"/>
            <a:ext cx="676656" cy="327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spc="-38">
                <a:solidFill>
                  <a:srgbClr val="FFFFFF">
                    <a:alpha val="49804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Earlier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935456" y="5906989"/>
            <a:ext cx="676656" cy="327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spc="-38">
                <a:solidFill>
                  <a:srgbClr val="FFFFFF">
                    <a:alpha val="49804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Earlier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490704" y="5906989"/>
            <a:ext cx="676656" cy="327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spc="-38">
                <a:solidFill>
                  <a:srgbClr val="FFFFFF">
                    <a:alpha val="49804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Latest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5471648" y="5906989"/>
            <a:ext cx="512064" cy="327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spc="-38">
                <a:solidFill>
                  <a:srgbClr val="FFFFFF">
                    <a:alpha val="49804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Mid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806672" y="5906989"/>
            <a:ext cx="676656" cy="327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spc="-38">
                <a:solidFill>
                  <a:srgbClr val="FFFFFF">
                    <a:alpha val="49804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Latest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455664" y="6850379"/>
            <a:ext cx="347472" cy="46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3"/>
              </a:lnSpc>
            </a:pPr>
            <a:r>
              <a:rPr lang="en-US" b="true" sz="2723" spc="-54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+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100816" y="6850379"/>
            <a:ext cx="347472" cy="46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3"/>
              </a:lnSpc>
            </a:pPr>
            <a:r>
              <a:rPr lang="en-US" b="true" sz="2723" spc="-54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+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455664" y="6850379"/>
            <a:ext cx="347472" cy="46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3"/>
              </a:lnSpc>
            </a:pPr>
            <a:r>
              <a:rPr lang="en-US" b="true" sz="2723" spc="-54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+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100816" y="6850379"/>
            <a:ext cx="347472" cy="46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3"/>
              </a:lnSpc>
            </a:pPr>
            <a:r>
              <a:rPr lang="en-US" b="true" sz="2723" spc="-54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+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455664" y="8146608"/>
            <a:ext cx="6035040" cy="975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2"/>
              </a:lnSpc>
            </a:pPr>
            <a:r>
              <a:rPr lang="en-US" b="true" sz="5730" spc="-114">
                <a:solidFill>
                  <a:srgbClr val="00BA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Patient  Trajectory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651760" y="9452990"/>
            <a:ext cx="12966192" cy="46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3"/>
              </a:lnSpc>
            </a:pPr>
            <a:r>
              <a:rPr lang="en-US" sz="2723" spc="-54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SEPSIS–AI shifts attention from isolated values toward observable clinical patterns.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8096" y="449219"/>
            <a:ext cx="12655296" cy="100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4"/>
              </a:lnSpc>
            </a:pPr>
            <a:r>
              <a:rPr lang="en-US" sz="5882" b="true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WE DIDN’T JUST DESIGN THE IDEA.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8096" y="1221260"/>
            <a:ext cx="4498848" cy="102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2"/>
              </a:lnSpc>
            </a:pPr>
            <a:r>
              <a:rPr lang="en-US" sz="5973" b="true">
                <a:solidFill>
                  <a:srgbClr val="00B2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WE BUILT IT.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696976" y="2350377"/>
            <a:ext cx="10894048" cy="6438940"/>
          </a:xfrm>
          <a:custGeom>
            <a:avLst/>
            <a:gdLst/>
            <a:ahLst/>
            <a:cxnLst/>
            <a:rect r="r" b="b" t="t" l="l"/>
            <a:pathLst>
              <a:path h="6438940" w="10894048">
                <a:moveTo>
                  <a:pt x="0" y="0"/>
                </a:moveTo>
                <a:lnTo>
                  <a:pt x="10894048" y="0"/>
                </a:lnTo>
                <a:lnTo>
                  <a:pt x="10894048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15732" y="2776725"/>
            <a:ext cx="3270402" cy="5804885"/>
          </a:xfrm>
          <a:custGeom>
            <a:avLst/>
            <a:gdLst/>
            <a:ahLst/>
            <a:cxnLst/>
            <a:rect r="r" b="b" t="t" l="l"/>
            <a:pathLst>
              <a:path h="5804885" w="3270402">
                <a:moveTo>
                  <a:pt x="0" y="0"/>
                </a:moveTo>
                <a:lnTo>
                  <a:pt x="3270402" y="0"/>
                </a:lnTo>
                <a:lnTo>
                  <a:pt x="3270402" y="5804885"/>
                </a:lnTo>
                <a:lnTo>
                  <a:pt x="0" y="5804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26864" y="5187059"/>
            <a:ext cx="1920240" cy="117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b="true" sz="2228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ACTUAL</a:t>
            </a:r>
          </a:p>
          <a:p>
            <a:pPr algn="ctr">
              <a:lnSpc>
                <a:spcPts val="3119"/>
              </a:lnSpc>
            </a:pPr>
            <a:r>
              <a:rPr lang="en-US" b="true" sz="2228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DASHBOARD</a:t>
            </a:r>
          </a:p>
          <a:p>
            <a:pPr algn="ctr">
              <a:lnSpc>
                <a:spcPts val="3119"/>
              </a:lnSpc>
            </a:pPr>
            <a:r>
              <a:rPr lang="en-US" b="true" sz="2228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SCREENSHOT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175196" y="2776725"/>
            <a:ext cx="6978316" cy="3224936"/>
          </a:xfrm>
          <a:custGeom>
            <a:avLst/>
            <a:gdLst/>
            <a:ahLst/>
            <a:cxnLst/>
            <a:rect r="r" b="b" t="t" l="l"/>
            <a:pathLst>
              <a:path h="3224936" w="6978316">
                <a:moveTo>
                  <a:pt x="0" y="0"/>
                </a:moveTo>
                <a:lnTo>
                  <a:pt x="6978316" y="0"/>
                </a:lnTo>
                <a:lnTo>
                  <a:pt x="697831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997696" y="3772380"/>
            <a:ext cx="3255264" cy="1202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2"/>
              </a:lnSpc>
            </a:pPr>
            <a:r>
              <a:rPr lang="en-US" b="true" sz="2287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ACTUAL </a:t>
            </a:r>
          </a:p>
          <a:p>
            <a:pPr algn="ctr">
              <a:lnSpc>
                <a:spcPts val="3202"/>
              </a:lnSpc>
            </a:pPr>
            <a:r>
              <a:rPr lang="en-US" b="true" sz="2287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TREND VISUALIZATION</a:t>
            </a:r>
          </a:p>
          <a:p>
            <a:pPr algn="ctr">
              <a:lnSpc>
                <a:spcPts val="3202"/>
              </a:lnSpc>
            </a:pPr>
            <a:r>
              <a:rPr lang="en-US" b="true" sz="2287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SCREENSHOT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175196" y="5990729"/>
            <a:ext cx="6978316" cy="2590881"/>
          </a:xfrm>
          <a:custGeom>
            <a:avLst/>
            <a:gdLst/>
            <a:ahLst/>
            <a:cxnLst/>
            <a:rect r="r" b="b" t="t" l="l"/>
            <a:pathLst>
              <a:path h="2590881" w="6978316">
                <a:moveTo>
                  <a:pt x="0" y="0"/>
                </a:moveTo>
                <a:lnTo>
                  <a:pt x="6978316" y="0"/>
                </a:lnTo>
                <a:lnTo>
                  <a:pt x="6978316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491472" y="6632542"/>
            <a:ext cx="2304288" cy="1202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4"/>
              </a:lnSpc>
            </a:pPr>
            <a:r>
              <a:rPr lang="en-US" b="true" sz="2317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ACTUAL </a:t>
            </a:r>
          </a:p>
          <a:p>
            <a:pPr algn="ctr">
              <a:lnSpc>
                <a:spcPts val="3244"/>
              </a:lnSpc>
            </a:pPr>
            <a:r>
              <a:rPr lang="en-US" b="true" sz="2317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RISK / INSIGHTS</a:t>
            </a:r>
          </a:p>
          <a:p>
            <a:pPr algn="ctr">
              <a:lnSpc>
                <a:spcPts val="3244"/>
              </a:lnSpc>
            </a:pPr>
            <a:r>
              <a:rPr lang="en-US" b="true" sz="2317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SCREENSHOT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5330" y="3214004"/>
            <a:ext cx="2406316" cy="2153601"/>
          </a:xfrm>
          <a:custGeom>
            <a:avLst/>
            <a:gdLst/>
            <a:ahLst/>
            <a:cxnLst/>
            <a:rect r="r" b="b" t="t" l="l"/>
            <a:pathLst>
              <a:path h="2153601" w="2406316">
                <a:moveTo>
                  <a:pt x="0" y="0"/>
                </a:moveTo>
                <a:lnTo>
                  <a:pt x="2406316" y="0"/>
                </a:lnTo>
                <a:lnTo>
                  <a:pt x="2406316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87552" y="3495544"/>
            <a:ext cx="621792" cy="73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1"/>
              </a:lnSpc>
            </a:pPr>
            <a:r>
              <a:rPr lang="en-US" sz="4294" b="true">
                <a:solidFill>
                  <a:srgbClr val="00B2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7552" y="4320060"/>
            <a:ext cx="1335024" cy="640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6"/>
              </a:lnSpc>
            </a:pPr>
            <a:r>
              <a:rPr lang="en-US" sz="2021" b="true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PATIENT</a:t>
            </a:r>
          </a:p>
          <a:p>
            <a:pPr algn="l">
              <a:lnSpc>
                <a:spcPts val="2526"/>
              </a:lnSpc>
            </a:pPr>
            <a:r>
              <a:rPr lang="en-US" sz="2021" b="true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OVERVIEW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45330" y="5783021"/>
            <a:ext cx="2406316" cy="2153601"/>
          </a:xfrm>
          <a:custGeom>
            <a:avLst/>
            <a:gdLst/>
            <a:ahLst/>
            <a:cxnLst/>
            <a:rect r="r" b="b" t="t" l="l"/>
            <a:pathLst>
              <a:path h="2153601" w="2406316">
                <a:moveTo>
                  <a:pt x="0" y="0"/>
                </a:moveTo>
                <a:lnTo>
                  <a:pt x="2406316" y="0"/>
                </a:lnTo>
                <a:lnTo>
                  <a:pt x="2406316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87552" y="6005572"/>
            <a:ext cx="621792" cy="73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1"/>
              </a:lnSpc>
            </a:pPr>
            <a:r>
              <a:rPr lang="en-US" sz="4294" b="true">
                <a:solidFill>
                  <a:srgbClr val="00B2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7552" y="6850315"/>
            <a:ext cx="1609344" cy="60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48" b="true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PARAMETER</a:t>
            </a:r>
          </a:p>
          <a:p>
            <a:pPr algn="l">
              <a:lnSpc>
                <a:spcPts val="2435"/>
              </a:lnSpc>
            </a:pPr>
            <a:r>
              <a:rPr lang="en-US" sz="1948" b="true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MONITORING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5236354" y="2350377"/>
            <a:ext cx="2406316" cy="1945894"/>
          </a:xfrm>
          <a:custGeom>
            <a:avLst/>
            <a:gdLst/>
            <a:ahLst/>
            <a:cxnLst/>
            <a:rect r="r" b="b" t="t" l="l"/>
            <a:pathLst>
              <a:path h="1945894" w="2406316">
                <a:moveTo>
                  <a:pt x="0" y="0"/>
                </a:moveTo>
                <a:lnTo>
                  <a:pt x="2406316" y="0"/>
                </a:lnTo>
                <a:lnTo>
                  <a:pt x="2406316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508224" y="2518279"/>
            <a:ext cx="621792" cy="73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1"/>
              </a:lnSpc>
            </a:pPr>
            <a:r>
              <a:rPr lang="en-US" sz="4294" b="true">
                <a:solidFill>
                  <a:srgbClr val="00B2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508224" y="3405490"/>
            <a:ext cx="1828800" cy="544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754" b="true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RISK</a:t>
            </a:r>
          </a:p>
          <a:p>
            <a:pPr algn="l">
              <a:lnSpc>
                <a:spcPts val="2193"/>
              </a:lnSpc>
            </a:pPr>
            <a:r>
              <a:rPr lang="en-US" sz="1754" b="true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STRATIFICATION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5236354" y="4493047"/>
            <a:ext cx="2406316" cy="1945894"/>
          </a:xfrm>
          <a:custGeom>
            <a:avLst/>
            <a:gdLst/>
            <a:ahLst/>
            <a:cxnLst/>
            <a:rect r="r" b="b" t="t" l="l"/>
            <a:pathLst>
              <a:path h="1945894" w="2406316">
                <a:moveTo>
                  <a:pt x="0" y="0"/>
                </a:moveTo>
                <a:lnTo>
                  <a:pt x="2406316" y="0"/>
                </a:lnTo>
                <a:lnTo>
                  <a:pt x="2406316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5508224" y="4637401"/>
            <a:ext cx="621792" cy="73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1"/>
              </a:lnSpc>
            </a:pPr>
            <a:r>
              <a:rPr lang="en-US" sz="4294" b="true">
                <a:solidFill>
                  <a:srgbClr val="00B2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508224" y="5493761"/>
            <a:ext cx="1133856" cy="597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1924" b="true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CLINICAL</a:t>
            </a:r>
          </a:p>
          <a:p>
            <a:pPr algn="l">
              <a:lnSpc>
                <a:spcPts val="2405"/>
              </a:lnSpc>
            </a:pPr>
            <a:r>
              <a:rPr lang="en-US" sz="1924" b="true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TRENDS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5236354" y="6635716"/>
            <a:ext cx="2406316" cy="1945894"/>
          </a:xfrm>
          <a:custGeom>
            <a:avLst/>
            <a:gdLst/>
            <a:ahLst/>
            <a:cxnLst/>
            <a:rect r="r" b="b" t="t" l="l"/>
            <a:pathLst>
              <a:path h="1945894" w="2406316">
                <a:moveTo>
                  <a:pt x="0" y="0"/>
                </a:moveTo>
                <a:lnTo>
                  <a:pt x="2406316" y="0"/>
                </a:lnTo>
                <a:lnTo>
                  <a:pt x="2406316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5508224" y="6766810"/>
            <a:ext cx="621792" cy="73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1"/>
              </a:lnSpc>
            </a:pPr>
            <a:r>
              <a:rPr lang="en-US" sz="4294" b="true">
                <a:solidFill>
                  <a:srgbClr val="00B2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508224" y="7653192"/>
            <a:ext cx="1133856" cy="587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00" b="true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CLINICAL</a:t>
            </a:r>
          </a:p>
          <a:p>
            <a:pPr algn="l">
              <a:lnSpc>
                <a:spcPts val="2375"/>
              </a:lnSpc>
            </a:pPr>
            <a:r>
              <a:rPr lang="en-US" sz="1900" b="true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INSIGHTS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45330" y="8997026"/>
            <a:ext cx="16997340" cy="1082267"/>
          </a:xfrm>
          <a:custGeom>
            <a:avLst/>
            <a:gdLst/>
            <a:ahLst/>
            <a:cxnLst/>
            <a:rect r="r" b="b" t="t" l="l"/>
            <a:pathLst>
              <a:path h="1082267" w="16997340">
                <a:moveTo>
                  <a:pt x="0" y="0"/>
                </a:moveTo>
                <a:lnTo>
                  <a:pt x="16997340" y="0"/>
                </a:lnTo>
                <a:lnTo>
                  <a:pt x="1699734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4370832" y="9255972"/>
            <a:ext cx="9546336" cy="544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2"/>
              </a:lnSpc>
            </a:pPr>
            <a:r>
              <a:rPr lang="en-US" b="true" sz="3208">
                <a:solidFill>
                  <a:srgbClr val="E9E9E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ONE DASHBOARD. </a:t>
            </a:r>
            <a:r>
              <a:rPr lang="en-US" b="true" sz="3208">
                <a:solidFill>
                  <a:srgbClr val="00B2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 COMPLETE CLINICAL VIEW.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2821952" y="4066699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821952" y="6635716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142574" y="3214004"/>
            <a:ext cx="1323474" cy="218640"/>
          </a:xfrm>
          <a:custGeom>
            <a:avLst/>
            <a:gdLst/>
            <a:ahLst/>
            <a:cxnLst/>
            <a:rect r="r" b="b" t="t" l="l"/>
            <a:pathLst>
              <a:path h="218640" w="1323474">
                <a:moveTo>
                  <a:pt x="0" y="0"/>
                </a:moveTo>
                <a:lnTo>
                  <a:pt x="1323474" y="0"/>
                </a:lnTo>
                <a:lnTo>
                  <a:pt x="132347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142574" y="5356674"/>
            <a:ext cx="1323474" cy="218640"/>
          </a:xfrm>
          <a:custGeom>
            <a:avLst/>
            <a:gdLst/>
            <a:ahLst/>
            <a:cxnLst/>
            <a:rect r="r" b="b" t="t" l="l"/>
            <a:pathLst>
              <a:path h="218640" w="1323474">
                <a:moveTo>
                  <a:pt x="0" y="0"/>
                </a:moveTo>
                <a:lnTo>
                  <a:pt x="1323474" y="0"/>
                </a:lnTo>
                <a:lnTo>
                  <a:pt x="132347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4142574" y="7499343"/>
            <a:ext cx="1323474" cy="218640"/>
          </a:xfrm>
          <a:custGeom>
            <a:avLst/>
            <a:gdLst/>
            <a:ahLst/>
            <a:cxnLst/>
            <a:rect r="r" b="b" t="t" l="l"/>
            <a:pathLst>
              <a:path h="218640" w="1323474">
                <a:moveTo>
                  <a:pt x="0" y="0"/>
                </a:moveTo>
                <a:lnTo>
                  <a:pt x="1323474" y="0"/>
                </a:lnTo>
                <a:lnTo>
                  <a:pt x="132347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3040708" y="9423373"/>
            <a:ext cx="448450" cy="229572"/>
          </a:xfrm>
          <a:custGeom>
            <a:avLst/>
            <a:gdLst/>
            <a:ahLst/>
            <a:cxnLst/>
            <a:rect r="r" b="b" t="t" l="l"/>
            <a:pathLst>
              <a:path h="229572" w="448450">
                <a:moveTo>
                  <a:pt x="0" y="0"/>
                </a:moveTo>
                <a:lnTo>
                  <a:pt x="448450" y="0"/>
                </a:lnTo>
                <a:lnTo>
                  <a:pt x="448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4798842" y="9423373"/>
            <a:ext cx="448450" cy="229572"/>
          </a:xfrm>
          <a:custGeom>
            <a:avLst/>
            <a:gdLst/>
            <a:ahLst/>
            <a:cxnLst/>
            <a:rect r="r" b="b" t="t" l="l"/>
            <a:pathLst>
              <a:path h="229572" w="448450">
                <a:moveTo>
                  <a:pt x="0" y="0"/>
                </a:moveTo>
                <a:lnTo>
                  <a:pt x="448450" y="0"/>
                </a:lnTo>
                <a:lnTo>
                  <a:pt x="448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5216" y="568157"/>
            <a:ext cx="10972800" cy="1470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6"/>
              </a:lnSpc>
            </a:pPr>
            <a:r>
              <a:rPr lang="en-US" sz="5444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BUILT FOR TODAY.</a:t>
            </a:r>
          </a:p>
          <a:p>
            <a:pPr algn="l">
              <a:lnSpc>
                <a:spcPts val="5716"/>
              </a:lnSpc>
            </a:pPr>
            <a:r>
              <a:rPr lang="en-US" sz="5444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ARCHITECTED FOR TOMORROW.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142670"/>
            <a:ext cx="4145426" cy="7510275"/>
          </a:xfrm>
          <a:custGeom>
            <a:avLst/>
            <a:gdLst/>
            <a:ahLst/>
            <a:cxnLst/>
            <a:rect r="r" b="b" t="t" l="l"/>
            <a:pathLst>
              <a:path h="7510275" w="4145426">
                <a:moveTo>
                  <a:pt x="0" y="0"/>
                </a:moveTo>
                <a:lnTo>
                  <a:pt x="4145426" y="0"/>
                </a:lnTo>
                <a:lnTo>
                  <a:pt x="4145426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5840" y="2784680"/>
            <a:ext cx="1335024" cy="32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1924" b="true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FRONTEND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5840" y="3203076"/>
            <a:ext cx="1536192" cy="1509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2"/>
              </a:lnSpc>
            </a:pPr>
            <a:r>
              <a:rPr lang="en-US" sz="2061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React</a:t>
            </a:r>
          </a:p>
          <a:p>
            <a:pPr algn="l">
              <a:lnSpc>
                <a:spcPts val="3092"/>
              </a:lnSpc>
            </a:pPr>
            <a:r>
              <a:rPr lang="en-US" sz="2061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TypeScript</a:t>
            </a:r>
          </a:p>
          <a:p>
            <a:pPr algn="l">
              <a:lnSpc>
                <a:spcPts val="3092"/>
              </a:lnSpc>
            </a:pPr>
            <a:r>
              <a:rPr lang="en-US" sz="2061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Vite</a:t>
            </a:r>
          </a:p>
          <a:p>
            <a:pPr algn="l">
              <a:lnSpc>
                <a:spcPts val="3092"/>
              </a:lnSpc>
            </a:pPr>
            <a:r>
              <a:rPr lang="en-US" sz="2061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Tailwind CSS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5840" y="5171554"/>
            <a:ext cx="1865376" cy="32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6"/>
              </a:lnSpc>
            </a:pPr>
            <a:r>
              <a:rPr lang="en-US" sz="1947" b="true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VISUALIZATION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5840" y="5573264"/>
            <a:ext cx="1024128" cy="34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4"/>
              </a:lnSpc>
            </a:pPr>
            <a:r>
              <a:rPr lang="en-US" sz="2038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Recharts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5840" y="6746272"/>
            <a:ext cx="1517904" cy="346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6"/>
              </a:lnSpc>
            </a:pPr>
            <a:r>
              <a:rPr lang="en-US" sz="2061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Lucide React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5840" y="7511298"/>
            <a:ext cx="1975104" cy="318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878" b="true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ANALYSIS LAYER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5840" y="7930274"/>
            <a:ext cx="3072384" cy="1066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6"/>
              </a:lnSpc>
            </a:pPr>
            <a:r>
              <a:rPr lang="en-US" sz="1924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Multi-parameter assessment</a:t>
            </a:r>
          </a:p>
          <a:p>
            <a:pPr algn="l">
              <a:lnSpc>
                <a:spcPts val="2886"/>
              </a:lnSpc>
            </a:pPr>
            <a:r>
              <a:rPr lang="en-US" sz="1924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Risk stratification</a:t>
            </a:r>
          </a:p>
          <a:p>
            <a:pPr algn="l">
              <a:lnSpc>
                <a:spcPts val="2886"/>
              </a:lnSpc>
            </a:pPr>
            <a:r>
              <a:rPr lang="en-US" sz="1924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Clinical trend analysis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217330" y="2350377"/>
            <a:ext cx="4582938" cy="874559"/>
          </a:xfrm>
          <a:custGeom>
            <a:avLst/>
            <a:gdLst/>
            <a:ahLst/>
            <a:cxnLst/>
            <a:rect r="r" b="b" t="t" l="l"/>
            <a:pathLst>
              <a:path h="874559" w="4582938">
                <a:moveTo>
                  <a:pt x="0" y="0"/>
                </a:moveTo>
                <a:lnTo>
                  <a:pt x="4582938" y="0"/>
                </a:lnTo>
                <a:lnTo>
                  <a:pt x="458293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925312" y="2579230"/>
            <a:ext cx="3218688" cy="32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6"/>
              </a:lnSpc>
            </a:pPr>
            <a:r>
              <a:rPr lang="en-US" sz="1947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Patient / Medical Device Data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393952" y="2995365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217330" y="3214004"/>
            <a:ext cx="4582938" cy="863627"/>
          </a:xfrm>
          <a:custGeom>
            <a:avLst/>
            <a:gdLst/>
            <a:ahLst/>
            <a:cxnLst/>
            <a:rect r="r" b="b" t="t" l="l"/>
            <a:pathLst>
              <a:path h="863627" w="4582938">
                <a:moveTo>
                  <a:pt x="0" y="0"/>
                </a:moveTo>
                <a:lnTo>
                  <a:pt x="4582938" y="0"/>
                </a:lnTo>
                <a:lnTo>
                  <a:pt x="458293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675120" y="3437646"/>
            <a:ext cx="1719072" cy="318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</a:pPr>
            <a:r>
              <a:rPr lang="en-US" sz="1878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Data Processing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393952" y="3848060"/>
            <a:ext cx="229694" cy="448211"/>
          </a:xfrm>
          <a:custGeom>
            <a:avLst/>
            <a:gdLst/>
            <a:ahLst/>
            <a:cxnLst/>
            <a:rect r="r" b="b" t="t" l="l"/>
            <a:pathLst>
              <a:path h="448211" w="229694">
                <a:moveTo>
                  <a:pt x="0" y="0"/>
                </a:moveTo>
                <a:lnTo>
                  <a:pt x="229694" y="0"/>
                </a:lnTo>
                <a:lnTo>
                  <a:pt x="22969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217330" y="4066699"/>
            <a:ext cx="4582938" cy="655919"/>
          </a:xfrm>
          <a:custGeom>
            <a:avLst/>
            <a:gdLst/>
            <a:ahLst/>
            <a:cxnLst/>
            <a:rect r="r" b="b" t="t" l="l"/>
            <a:pathLst>
              <a:path h="655919" w="4582938">
                <a:moveTo>
                  <a:pt x="0" y="0"/>
                </a:moveTo>
                <a:lnTo>
                  <a:pt x="4582938" y="0"/>
                </a:lnTo>
                <a:lnTo>
                  <a:pt x="458293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473952" y="4300702"/>
            <a:ext cx="2157984" cy="30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sz="1855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Parameter Validation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393952" y="4711687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217330" y="4919394"/>
            <a:ext cx="4582938" cy="655919"/>
          </a:xfrm>
          <a:custGeom>
            <a:avLst/>
            <a:gdLst/>
            <a:ahLst/>
            <a:cxnLst/>
            <a:rect r="r" b="b" t="t" l="l"/>
            <a:pathLst>
              <a:path h="655919" w="4582938">
                <a:moveTo>
                  <a:pt x="0" y="0"/>
                </a:moveTo>
                <a:lnTo>
                  <a:pt x="4582938" y="0"/>
                </a:lnTo>
                <a:lnTo>
                  <a:pt x="458293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998464" y="5140403"/>
            <a:ext cx="3108960" cy="32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4"/>
              </a:lnSpc>
            </a:pPr>
            <a:r>
              <a:rPr lang="en-US" sz="1924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Multi-Parameter Assessment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7393952" y="5564382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217330" y="5783021"/>
            <a:ext cx="4582938" cy="655919"/>
          </a:xfrm>
          <a:custGeom>
            <a:avLst/>
            <a:gdLst/>
            <a:ahLst/>
            <a:cxnLst/>
            <a:rect r="r" b="b" t="t" l="l"/>
            <a:pathLst>
              <a:path h="655919" w="4582938">
                <a:moveTo>
                  <a:pt x="0" y="0"/>
                </a:moveTo>
                <a:lnTo>
                  <a:pt x="4582938" y="0"/>
                </a:lnTo>
                <a:lnTo>
                  <a:pt x="458293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547104" y="5979052"/>
            <a:ext cx="1920240" cy="337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8"/>
              </a:lnSpc>
            </a:pPr>
            <a:r>
              <a:rPr lang="en-US" sz="197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Risk Stratification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7393952" y="6209369"/>
            <a:ext cx="229694" cy="655919"/>
          </a:xfrm>
          <a:custGeom>
            <a:avLst/>
            <a:gdLst/>
            <a:ahLst/>
            <a:cxnLst/>
            <a:rect r="r" b="b" t="t" l="l"/>
            <a:pathLst>
              <a:path h="655919" w="229694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217330" y="6635716"/>
            <a:ext cx="4582938" cy="655919"/>
          </a:xfrm>
          <a:custGeom>
            <a:avLst/>
            <a:gdLst/>
            <a:ahLst/>
            <a:cxnLst/>
            <a:rect r="r" b="b" t="t" l="l"/>
            <a:pathLst>
              <a:path h="655919" w="4582938">
                <a:moveTo>
                  <a:pt x="0" y="0"/>
                </a:moveTo>
                <a:lnTo>
                  <a:pt x="4582938" y="0"/>
                </a:lnTo>
                <a:lnTo>
                  <a:pt x="458293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528816" y="6838048"/>
            <a:ext cx="2048256" cy="32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6"/>
              </a:lnSpc>
            </a:pPr>
            <a:r>
              <a:rPr lang="en-US" sz="1947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Trajectory Analysis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7393952" y="7062064"/>
            <a:ext cx="229694" cy="655919"/>
          </a:xfrm>
          <a:custGeom>
            <a:avLst/>
            <a:gdLst/>
            <a:ahLst/>
            <a:cxnLst/>
            <a:rect r="r" b="b" t="t" l="l"/>
            <a:pathLst>
              <a:path h="655919" w="229694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217330" y="7499343"/>
            <a:ext cx="4582938" cy="644987"/>
          </a:xfrm>
          <a:custGeom>
            <a:avLst/>
            <a:gdLst/>
            <a:ahLst/>
            <a:cxnLst/>
            <a:rect r="r" b="b" t="t" l="l"/>
            <a:pathLst>
              <a:path h="644987" w="4582938">
                <a:moveTo>
                  <a:pt x="0" y="0"/>
                </a:moveTo>
                <a:lnTo>
                  <a:pt x="4582938" y="0"/>
                </a:lnTo>
                <a:lnTo>
                  <a:pt x="458293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6382512" y="7727325"/>
            <a:ext cx="2340864" cy="318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</a:pPr>
            <a:r>
              <a:rPr lang="en-US" sz="1878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SEPSIS-AI Dashboard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7393952" y="8133399"/>
            <a:ext cx="229694" cy="448211"/>
          </a:xfrm>
          <a:custGeom>
            <a:avLst/>
            <a:gdLst/>
            <a:ahLst/>
            <a:cxnLst/>
            <a:rect r="r" b="b" t="t" l="l"/>
            <a:pathLst>
              <a:path h="448211" w="229694">
                <a:moveTo>
                  <a:pt x="0" y="0"/>
                </a:moveTo>
                <a:lnTo>
                  <a:pt x="229694" y="0"/>
                </a:lnTo>
                <a:lnTo>
                  <a:pt x="22969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998574" y="8352038"/>
            <a:ext cx="5020450" cy="1082267"/>
          </a:xfrm>
          <a:custGeom>
            <a:avLst/>
            <a:gdLst/>
            <a:ahLst/>
            <a:cxnLst/>
            <a:rect r="r" b="b" t="t" l="l"/>
            <a:pathLst>
              <a:path h="1082267" w="5020450">
                <a:moveTo>
                  <a:pt x="0" y="0"/>
                </a:moveTo>
                <a:lnTo>
                  <a:pt x="5020450" y="0"/>
                </a:lnTo>
                <a:lnTo>
                  <a:pt x="5020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5705856" y="8701072"/>
            <a:ext cx="3657600" cy="459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0"/>
              </a:lnSpc>
            </a:pPr>
            <a:r>
              <a:rPr lang="en-US" sz="2707" b="true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Risk | Trends | Insights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0226842" y="2569017"/>
            <a:ext cx="7853340" cy="4296271"/>
          </a:xfrm>
          <a:custGeom>
            <a:avLst/>
            <a:gdLst/>
            <a:ahLst/>
            <a:cxnLst/>
            <a:rect r="r" b="b" t="t" l="l"/>
            <a:pathLst>
              <a:path h="4296271" w="7853340">
                <a:moveTo>
                  <a:pt x="0" y="0"/>
                </a:moveTo>
                <a:lnTo>
                  <a:pt x="7853340" y="0"/>
                </a:lnTo>
                <a:lnTo>
                  <a:pt x="7853340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2435840" y="2953998"/>
            <a:ext cx="3438144" cy="42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</a:pPr>
            <a:r>
              <a:rPr lang="en-US" b="true" sz="2465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FUTURE INTEGRATION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0445598" y="3848060"/>
            <a:ext cx="1750048" cy="2798589"/>
          </a:xfrm>
          <a:custGeom>
            <a:avLst/>
            <a:gdLst/>
            <a:ahLst/>
            <a:cxnLst/>
            <a:rect r="r" b="b" t="t" l="l"/>
            <a:pathLst>
              <a:path h="2798589" w="1750048">
                <a:moveTo>
                  <a:pt x="0" y="0"/>
                </a:moveTo>
                <a:lnTo>
                  <a:pt x="1750048" y="0"/>
                </a:lnTo>
                <a:lnTo>
                  <a:pt x="1750048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0936224" y="4117200"/>
            <a:ext cx="841248" cy="64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</a:pPr>
            <a:r>
              <a:rPr lang="en-US" sz="1878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IoT Devices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0664354" y="4919394"/>
            <a:ext cx="1312536" cy="1300906"/>
          </a:xfrm>
          <a:custGeom>
            <a:avLst/>
            <a:gdLst/>
            <a:ahLst/>
            <a:cxnLst/>
            <a:rect r="r" b="b" t="t" l="l"/>
            <a:pathLst>
              <a:path h="1300906" w="1312536">
                <a:moveTo>
                  <a:pt x="0" y="0"/>
                </a:moveTo>
                <a:lnTo>
                  <a:pt x="1312536" y="0"/>
                </a:lnTo>
                <a:lnTo>
                  <a:pt x="131253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965952" y="5138034"/>
            <a:ext cx="448450" cy="229572"/>
          </a:xfrm>
          <a:custGeom>
            <a:avLst/>
            <a:gdLst/>
            <a:ahLst/>
            <a:cxnLst/>
            <a:rect r="r" b="b" t="t" l="l"/>
            <a:pathLst>
              <a:path h="229572" w="448450">
                <a:moveTo>
                  <a:pt x="0" y="0"/>
                </a:moveTo>
                <a:lnTo>
                  <a:pt x="448450" y="0"/>
                </a:lnTo>
                <a:lnTo>
                  <a:pt x="448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184708" y="3848060"/>
            <a:ext cx="1750048" cy="2798589"/>
          </a:xfrm>
          <a:custGeom>
            <a:avLst/>
            <a:gdLst/>
            <a:ahLst/>
            <a:cxnLst/>
            <a:rect r="r" b="b" t="t" l="l"/>
            <a:pathLst>
              <a:path h="2798589" w="1750048">
                <a:moveTo>
                  <a:pt x="0" y="0"/>
                </a:moveTo>
                <a:lnTo>
                  <a:pt x="1750048" y="0"/>
                </a:lnTo>
                <a:lnTo>
                  <a:pt x="1750048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2618720" y="4087554"/>
            <a:ext cx="1133856" cy="696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2"/>
              </a:lnSpc>
            </a:pPr>
            <a:r>
              <a:rPr lang="en-US" sz="2015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Real-Time Data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12403464" y="4919394"/>
            <a:ext cx="1531292" cy="1300906"/>
          </a:xfrm>
          <a:custGeom>
            <a:avLst/>
            <a:gdLst/>
            <a:ahLst/>
            <a:cxnLst/>
            <a:rect r="r" b="b" t="t" l="l"/>
            <a:pathLst>
              <a:path h="1300906" w="1531292">
                <a:moveTo>
                  <a:pt x="0" y="0"/>
                </a:moveTo>
                <a:lnTo>
                  <a:pt x="1531292" y="0"/>
                </a:lnTo>
                <a:lnTo>
                  <a:pt x="153129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3923818" y="5138034"/>
            <a:ext cx="448450" cy="229572"/>
          </a:xfrm>
          <a:custGeom>
            <a:avLst/>
            <a:gdLst/>
            <a:ahLst/>
            <a:cxnLst/>
            <a:rect r="r" b="b" t="t" l="l"/>
            <a:pathLst>
              <a:path h="229572" w="448450">
                <a:moveTo>
                  <a:pt x="0" y="0"/>
                </a:moveTo>
                <a:lnTo>
                  <a:pt x="448450" y="0"/>
                </a:lnTo>
                <a:lnTo>
                  <a:pt x="448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4142574" y="3848060"/>
            <a:ext cx="1760986" cy="2798589"/>
          </a:xfrm>
          <a:custGeom>
            <a:avLst/>
            <a:gdLst/>
            <a:ahLst/>
            <a:cxnLst/>
            <a:rect r="r" b="b" t="t" l="l"/>
            <a:pathLst>
              <a:path h="2798589" w="1760986">
                <a:moveTo>
                  <a:pt x="0" y="0"/>
                </a:moveTo>
                <a:lnTo>
                  <a:pt x="1760986" y="0"/>
                </a:lnTo>
                <a:lnTo>
                  <a:pt x="1760986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4648688" y="4077493"/>
            <a:ext cx="731520" cy="716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8"/>
              </a:lnSpc>
            </a:pPr>
            <a:r>
              <a:rPr lang="en-US" sz="2084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AI Model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14361330" y="4919394"/>
            <a:ext cx="1323474" cy="1300906"/>
          </a:xfrm>
          <a:custGeom>
            <a:avLst/>
            <a:gdLst/>
            <a:ahLst/>
            <a:cxnLst/>
            <a:rect r="r" b="b" t="t" l="l"/>
            <a:pathLst>
              <a:path h="1300906" w="1323474">
                <a:moveTo>
                  <a:pt x="0" y="0"/>
                </a:moveTo>
                <a:lnTo>
                  <a:pt x="1323474" y="0"/>
                </a:lnTo>
                <a:lnTo>
                  <a:pt x="132347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5673866" y="5138034"/>
            <a:ext cx="437512" cy="229572"/>
          </a:xfrm>
          <a:custGeom>
            <a:avLst/>
            <a:gdLst/>
            <a:ahLst/>
            <a:cxnLst/>
            <a:rect r="r" b="b" t="t" l="l"/>
            <a:pathLst>
              <a:path h="229572" w="437512">
                <a:moveTo>
                  <a:pt x="0" y="0"/>
                </a:moveTo>
                <a:lnTo>
                  <a:pt x="437512" y="0"/>
                </a:lnTo>
                <a:lnTo>
                  <a:pt x="43751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5892622" y="3848060"/>
            <a:ext cx="1750048" cy="2798589"/>
          </a:xfrm>
          <a:custGeom>
            <a:avLst/>
            <a:gdLst/>
            <a:ahLst/>
            <a:cxnLst/>
            <a:rect r="r" b="b" t="t" l="l"/>
            <a:pathLst>
              <a:path h="2798589" w="1750048">
                <a:moveTo>
                  <a:pt x="0" y="0"/>
                </a:moveTo>
                <a:lnTo>
                  <a:pt x="1750048" y="0"/>
                </a:lnTo>
                <a:lnTo>
                  <a:pt x="1750048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005840" y="6310385"/>
            <a:ext cx="274320" cy="36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30" b="true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UI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258032" y="4096498"/>
            <a:ext cx="1207008" cy="687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8"/>
              </a:lnSpc>
            </a:pPr>
            <a:r>
              <a:rPr lang="en-US" sz="197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Clinical Dashboard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3232" y="350381"/>
            <a:ext cx="10168128" cy="79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6"/>
              </a:lnSpc>
            </a:pPr>
            <a:r>
              <a:rPr lang="en-US" b="true" sz="5986" spc="-299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IMPACT &amp; FUTURE ROADMAP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2960" y="1361390"/>
            <a:ext cx="2615184" cy="30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4"/>
              </a:lnSpc>
            </a:pPr>
            <a:r>
              <a:rPr lang="en-US" b="true" sz="2384" spc="-119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EXPECTED IMPACT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478220" y="1279043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330" y="1705390"/>
            <a:ext cx="4145426" cy="2590881"/>
          </a:xfrm>
          <a:custGeom>
            <a:avLst/>
            <a:gdLst/>
            <a:ahLst/>
            <a:cxnLst/>
            <a:rect r="r" b="b" t="t" l="l"/>
            <a:pathLst>
              <a:path h="2590881" w="4145426">
                <a:moveTo>
                  <a:pt x="0" y="0"/>
                </a:moveTo>
                <a:lnTo>
                  <a:pt x="4145426" y="0"/>
                </a:lnTo>
                <a:lnTo>
                  <a:pt x="4145426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78992" y="2461648"/>
            <a:ext cx="2761488" cy="36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3"/>
              </a:lnSpc>
            </a:pPr>
            <a:r>
              <a:rPr lang="en-US" b="true" sz="2723" spc="-136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Unified Monitoring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8992" y="3171672"/>
            <a:ext cx="2761488" cy="6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2023" spc="-4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Important patient parameters in one view.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779818" y="1705390"/>
            <a:ext cx="4364182" cy="2590881"/>
          </a:xfrm>
          <a:custGeom>
            <a:avLst/>
            <a:gdLst/>
            <a:ahLst/>
            <a:cxnLst/>
            <a:rect r="r" b="b" t="t" l="l"/>
            <a:pathLst>
              <a:path h="2590881" w="4364182">
                <a:moveTo>
                  <a:pt x="0" y="0"/>
                </a:moveTo>
                <a:lnTo>
                  <a:pt x="4364182" y="0"/>
                </a:lnTo>
                <a:lnTo>
                  <a:pt x="4364182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303520" y="2461648"/>
            <a:ext cx="3255264" cy="36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3"/>
              </a:lnSpc>
            </a:pPr>
            <a:r>
              <a:rPr lang="en-US" b="true" sz="2723" spc="-136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Better Trend Visibility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03520" y="3171672"/>
            <a:ext cx="3054096" cy="6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2023" spc="-4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Makes changes over time easier to interpret.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144000" y="1705390"/>
            <a:ext cx="4145426" cy="2590881"/>
          </a:xfrm>
          <a:custGeom>
            <a:avLst/>
            <a:gdLst/>
            <a:ahLst/>
            <a:cxnLst/>
            <a:rect r="r" b="b" t="t" l="l"/>
            <a:pathLst>
              <a:path h="2590881" w="4145426">
                <a:moveTo>
                  <a:pt x="0" y="0"/>
                </a:moveTo>
                <a:lnTo>
                  <a:pt x="4145426" y="0"/>
                </a:lnTo>
                <a:lnTo>
                  <a:pt x="4145426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619488" y="2195921"/>
            <a:ext cx="2578608" cy="749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6"/>
              </a:lnSpc>
            </a:pPr>
            <a:r>
              <a:rPr lang="en-US" sz="2723" spc="-136" b="true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Multi-Parameter Perspective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19488" y="3171672"/>
            <a:ext cx="3364992" cy="6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2023" spc="-4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Provides broader context than isolated measurements.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497244" y="1705390"/>
            <a:ext cx="4145426" cy="2590881"/>
          </a:xfrm>
          <a:custGeom>
            <a:avLst/>
            <a:gdLst/>
            <a:ahLst/>
            <a:cxnLst/>
            <a:rect r="r" b="b" t="t" l="l"/>
            <a:pathLst>
              <a:path h="2590881" w="4145426">
                <a:moveTo>
                  <a:pt x="0" y="0"/>
                </a:moveTo>
                <a:lnTo>
                  <a:pt x="4145426" y="0"/>
                </a:lnTo>
                <a:lnTo>
                  <a:pt x="4145426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844016" y="2195921"/>
            <a:ext cx="2615184" cy="749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6"/>
              </a:lnSpc>
            </a:pPr>
            <a:r>
              <a:rPr lang="en-US" sz="2723" spc="-136" b="true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Clinical Decision Support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44016" y="3106064"/>
            <a:ext cx="2889504" cy="927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2023" spc="-4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Provides interpretable insights for professional evaluation.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2960" y="4560647"/>
            <a:ext cx="2615184" cy="30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4"/>
              </a:lnSpc>
            </a:pPr>
            <a:r>
              <a:rPr lang="en-US" b="true" sz="2384" spc="-119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FUTURE ROADMAP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3478220" y="4493047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45330" y="4919394"/>
            <a:ext cx="2625072" cy="1727254"/>
          </a:xfrm>
          <a:custGeom>
            <a:avLst/>
            <a:gdLst/>
            <a:ahLst/>
            <a:cxnLst/>
            <a:rect r="r" b="b" t="t" l="l"/>
            <a:pathLst>
              <a:path h="1727254" w="2625072">
                <a:moveTo>
                  <a:pt x="0" y="0"/>
                </a:moveTo>
                <a:lnTo>
                  <a:pt x="2625072" y="0"/>
                </a:lnTo>
                <a:lnTo>
                  <a:pt x="262507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98448" y="5213532"/>
            <a:ext cx="1170432" cy="278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42" spc="-42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PHASE 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8448" y="5581497"/>
            <a:ext cx="1170432" cy="586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5"/>
              </a:lnSpc>
            </a:pPr>
            <a:r>
              <a:rPr lang="en-US" sz="1819" spc="-36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Functional Prototype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3040708" y="5564382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478220" y="4919394"/>
            <a:ext cx="2625072" cy="1727254"/>
          </a:xfrm>
          <a:custGeom>
            <a:avLst/>
            <a:gdLst/>
            <a:ahLst/>
            <a:cxnLst/>
            <a:rect r="r" b="b" t="t" l="l"/>
            <a:pathLst>
              <a:path h="1727254" w="2625072">
                <a:moveTo>
                  <a:pt x="0" y="0"/>
                </a:moveTo>
                <a:lnTo>
                  <a:pt x="2625072" y="0"/>
                </a:lnTo>
                <a:lnTo>
                  <a:pt x="262507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4096512" y="5213532"/>
            <a:ext cx="1170432" cy="278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42" spc="-42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PHASE 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96512" y="5602802"/>
            <a:ext cx="1627632" cy="81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8"/>
              </a:lnSpc>
            </a:pPr>
            <a:r>
              <a:rPr lang="en-US" sz="1857" spc="-37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Real-Time Medical Device Integration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5873598" y="5564382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529866" y="4919394"/>
            <a:ext cx="2406316" cy="1727254"/>
          </a:xfrm>
          <a:custGeom>
            <a:avLst/>
            <a:gdLst/>
            <a:ahLst/>
            <a:cxnLst/>
            <a:rect r="r" b="b" t="t" l="l"/>
            <a:pathLst>
              <a:path h="1727254" w="2406316">
                <a:moveTo>
                  <a:pt x="0" y="0"/>
                </a:moveTo>
                <a:lnTo>
                  <a:pt x="2406316" y="0"/>
                </a:lnTo>
                <a:lnTo>
                  <a:pt x="240631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7095744" y="5213532"/>
            <a:ext cx="1170432" cy="278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42" spc="-42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PHASE 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95744" y="5602802"/>
            <a:ext cx="1170432" cy="81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8"/>
              </a:lnSpc>
            </a:pPr>
            <a:r>
              <a:rPr lang="en-US" sz="1857" spc="-37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Continuous Patient Monitoring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8706488" y="5564382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351818" y="4919394"/>
            <a:ext cx="2406316" cy="1727254"/>
          </a:xfrm>
          <a:custGeom>
            <a:avLst/>
            <a:gdLst/>
            <a:ahLst/>
            <a:cxnLst/>
            <a:rect r="r" b="b" t="t" l="l"/>
            <a:pathLst>
              <a:path h="1727254" w="2406316">
                <a:moveTo>
                  <a:pt x="0" y="0"/>
                </a:moveTo>
                <a:lnTo>
                  <a:pt x="2406316" y="0"/>
                </a:lnTo>
                <a:lnTo>
                  <a:pt x="240631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802368" y="5213532"/>
            <a:ext cx="1170432" cy="278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42" spc="-42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PHASE 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02368" y="5825501"/>
            <a:ext cx="1828800" cy="38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5"/>
              </a:lnSpc>
            </a:pPr>
            <a:r>
              <a:rPr lang="en-US" sz="1329" spc="-26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Machine-Learning-Based Risk Prediction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1747196" y="5564382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2184708" y="4919394"/>
            <a:ext cx="2625072" cy="1727254"/>
          </a:xfrm>
          <a:custGeom>
            <a:avLst/>
            <a:gdLst/>
            <a:ahLst/>
            <a:cxnLst/>
            <a:rect r="r" b="b" t="t" l="l"/>
            <a:pathLst>
              <a:path h="1727254" w="2625072">
                <a:moveTo>
                  <a:pt x="0" y="0"/>
                </a:moveTo>
                <a:lnTo>
                  <a:pt x="2625072" y="0"/>
                </a:lnTo>
                <a:lnTo>
                  <a:pt x="262507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2893040" y="5213532"/>
            <a:ext cx="1170432" cy="278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42" spc="-42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PHASE 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893040" y="5602802"/>
            <a:ext cx="1170432" cy="81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8"/>
              </a:lnSpc>
            </a:pPr>
            <a:r>
              <a:rPr lang="en-US" sz="1857" spc="-37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Hospital / EHR Integration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4580086" y="5564382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5017598" y="4919394"/>
            <a:ext cx="2625072" cy="1727254"/>
          </a:xfrm>
          <a:custGeom>
            <a:avLst/>
            <a:gdLst/>
            <a:ahLst/>
            <a:cxnLst/>
            <a:rect r="r" b="b" t="t" l="l"/>
            <a:pathLst>
              <a:path h="1727254" w="2625072">
                <a:moveTo>
                  <a:pt x="0" y="0"/>
                </a:moveTo>
                <a:lnTo>
                  <a:pt x="2625072" y="0"/>
                </a:lnTo>
                <a:lnTo>
                  <a:pt x="262507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5745968" y="5213532"/>
            <a:ext cx="1170432" cy="278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42" spc="-42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PHASE 6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691104" y="5602802"/>
            <a:ext cx="1316736" cy="81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8"/>
              </a:lnSpc>
            </a:pPr>
            <a:r>
              <a:rPr lang="en-US" sz="1857" spc="-37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Clinical Validation &amp; Deployment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645330" y="6428009"/>
            <a:ext cx="16997340" cy="644987"/>
          </a:xfrm>
          <a:custGeom>
            <a:avLst/>
            <a:gdLst/>
            <a:ahLst/>
            <a:cxnLst/>
            <a:rect r="r" b="b" t="t" l="l"/>
            <a:pathLst>
              <a:path h="644987" w="16997340">
                <a:moveTo>
                  <a:pt x="0" y="0"/>
                </a:moveTo>
                <a:lnTo>
                  <a:pt x="16997340" y="0"/>
                </a:lnTo>
                <a:lnTo>
                  <a:pt x="1699734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645330" y="7280704"/>
            <a:ext cx="16997340" cy="2798589"/>
          </a:xfrm>
          <a:custGeom>
            <a:avLst/>
            <a:gdLst/>
            <a:ahLst/>
            <a:cxnLst/>
            <a:rect r="r" b="b" t="t" l="l"/>
            <a:pathLst>
              <a:path h="2798589" w="16997340">
                <a:moveTo>
                  <a:pt x="0" y="0"/>
                </a:moveTo>
                <a:lnTo>
                  <a:pt x="16997340" y="0"/>
                </a:lnTo>
                <a:lnTo>
                  <a:pt x="16997340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8174736" y="7450843"/>
            <a:ext cx="1938528" cy="36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3"/>
              </a:lnSpc>
            </a:pPr>
            <a:r>
              <a:rPr lang="en-US" b="true" sz="2723" spc="-136">
                <a:solidFill>
                  <a:srgbClr val="FF3131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OUR VISION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688336" y="8125204"/>
            <a:ext cx="12911328" cy="52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3"/>
              </a:lnSpc>
            </a:pPr>
            <a:r>
              <a:rPr lang="en-US" sz="2013" spc="-4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"SEPSIS-AI aims to transform fragmented patient measurements into a clear, continuous clinical trajectory—supporting healthcare professionals in recognizing concerning patterns earlier."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296912" y="9233099"/>
            <a:ext cx="3694176" cy="47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9"/>
              </a:lnSpc>
            </a:pPr>
            <a:r>
              <a:rPr lang="en-US" b="true" sz="3679" spc="-183">
                <a:solidFill>
                  <a:srgbClr val="00C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ZYNOVA XYPER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608576" y="9782247"/>
            <a:ext cx="9070848" cy="34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638" spc="-52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"Don't just monitor the numbers. Understand the trajectory”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DAHVVTa7UEM</dc:identifier>
  <dcterms:modified xsi:type="dcterms:W3CDTF">2011-08-01T06:04:30Z</dcterms:modified>
  <cp:revision>1</cp:revision>
  <dc:title>Patient Trajectory</dc:title>
</cp:coreProperties>
</file>